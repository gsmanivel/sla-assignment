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5"/>
  </p:notesMasterIdLst>
  <p:handoutMasterIdLst>
    <p:handoutMasterId r:id="rId26"/>
  </p:handoutMasterIdLst>
  <p:sldIdLst>
    <p:sldId id="317" r:id="rId5"/>
    <p:sldId id="326" r:id="rId6"/>
    <p:sldId id="328" r:id="rId7"/>
    <p:sldId id="329" r:id="rId8"/>
    <p:sldId id="330" r:id="rId9"/>
    <p:sldId id="331" r:id="rId10"/>
    <p:sldId id="334" r:id="rId11"/>
    <p:sldId id="336" r:id="rId12"/>
    <p:sldId id="337" r:id="rId13"/>
    <p:sldId id="338" r:id="rId14"/>
    <p:sldId id="339" r:id="rId15"/>
    <p:sldId id="340" r:id="rId16"/>
    <p:sldId id="341" r:id="rId17"/>
    <p:sldId id="342" r:id="rId18"/>
    <p:sldId id="343" r:id="rId19"/>
    <p:sldId id="344" r:id="rId20"/>
    <p:sldId id="345" r:id="rId21"/>
    <p:sldId id="346" r:id="rId22"/>
    <p:sldId id="347" r:id="rId23"/>
    <p:sldId id="304"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636A58"/>
    <a:srgbClr val="505A47"/>
    <a:srgbClr val="D1D8B7"/>
    <a:srgbClr val="A09D79"/>
    <a:srgbClr val="AD5C4D"/>
    <a:srgbClr val="543E35"/>
    <a:srgbClr val="637700"/>
    <a:srgbClr val="FFF4ED"/>
    <a:srgbClr val="5E6A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388" autoAdjust="0"/>
  </p:normalViewPr>
  <p:slideViewPr>
    <p:cSldViewPr snapToGrid="0">
      <p:cViewPr>
        <p:scale>
          <a:sx n="80" d="100"/>
          <a:sy n="80" d="100"/>
        </p:scale>
        <p:origin x="782" y="158"/>
      </p:cViewPr>
      <p:guideLst>
        <p:guide orient="horz" pos="528"/>
        <p:guide pos="3864"/>
        <p:guide orient="horz" pos="1272"/>
        <p:guide orient="horz" pos="2312"/>
        <p:guide orient="horz" pos="1944"/>
        <p:guide orient="horz" pos="2328"/>
      </p:guideLst>
    </p:cSldViewPr>
  </p:slideViewPr>
  <p:outlineViewPr>
    <p:cViewPr>
      <p:scale>
        <a:sx n="33" d="100"/>
        <a:sy n="33" d="100"/>
      </p:scale>
      <p:origin x="0" y="0"/>
    </p:cViewPr>
  </p:outlineViewPr>
  <p:notesTextViewPr>
    <p:cViewPr>
      <p:scale>
        <a:sx n="135" d="100"/>
        <a:sy n="135" d="100"/>
      </p:scale>
      <p:origin x="0" y="0"/>
    </p:cViewPr>
  </p:notesTextViewPr>
  <p:sorterViewPr>
    <p:cViewPr>
      <p:scale>
        <a:sx n="100" d="100"/>
        <a:sy n="100" d="100"/>
      </p:scale>
      <p:origin x="0" y="0"/>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10/28/2025</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10/28/2025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73CFE-C6C6-EFA1-5D32-2686447BAA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0F9B1E-FC1F-A5FD-E8D7-BFBA431D41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8ED519-BE3C-1D3D-9754-63795CF7CA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AE90E84-3792-3549-A80E-7D23E53B5E1D}"/>
              </a:ext>
            </a:extLst>
          </p:cNvPr>
          <p:cNvSpPr>
            <a:spLocks noGrp="1"/>
          </p:cNvSpPr>
          <p:nvPr>
            <p:ph type="sldNum" sz="quarter" idx="5"/>
          </p:nvPr>
        </p:nvSpPr>
        <p:spPr/>
        <p:txBody>
          <a:bodyPr/>
          <a:lstStyle/>
          <a:p>
            <a:fld id="{7C366290-4595-5745-A50F-D5EC13BAC604}" type="slidenum">
              <a:rPr lang="en-US" noProof="0" smtClean="0"/>
              <a:t>2</a:t>
            </a:fld>
            <a:endParaRPr lang="en-US" noProof="0" dirty="0"/>
          </a:p>
        </p:txBody>
      </p:sp>
    </p:spTree>
    <p:extLst>
      <p:ext uri="{BB962C8B-B14F-4D97-AF65-F5344CB8AC3E}">
        <p14:creationId xmlns:p14="http://schemas.microsoft.com/office/powerpoint/2010/main" val="2349570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5F52C-62A9-1E77-E028-6BE74AD9FA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8E309A-87C8-63C6-D8A8-33A386A659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332214-9FAA-9116-BE2D-920A333F0D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47544F-71BB-7800-58EF-E1A795FF12F5}"/>
              </a:ext>
            </a:extLst>
          </p:cNvPr>
          <p:cNvSpPr>
            <a:spLocks noGrp="1"/>
          </p:cNvSpPr>
          <p:nvPr>
            <p:ph type="sldNum" sz="quarter" idx="5"/>
          </p:nvPr>
        </p:nvSpPr>
        <p:spPr/>
        <p:txBody>
          <a:bodyPr/>
          <a:lstStyle/>
          <a:p>
            <a:fld id="{7C366290-4595-5745-A50F-D5EC13BAC604}" type="slidenum">
              <a:rPr lang="en-US" noProof="0" smtClean="0"/>
              <a:t>3</a:t>
            </a:fld>
            <a:endParaRPr lang="en-US" noProof="0" dirty="0"/>
          </a:p>
        </p:txBody>
      </p:sp>
    </p:spTree>
    <p:extLst>
      <p:ext uri="{BB962C8B-B14F-4D97-AF65-F5344CB8AC3E}">
        <p14:creationId xmlns:p14="http://schemas.microsoft.com/office/powerpoint/2010/main" val="18357857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F6AB9-5FD5-AA3F-4DE1-9D5FD9FACE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DCF801-006C-5788-C9A8-A9EF1E68F7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F830A4-2D47-9FB1-0DCE-57914C51BC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F598A8E-69A2-C6AF-81A3-B2AD08533522}"/>
              </a:ext>
            </a:extLst>
          </p:cNvPr>
          <p:cNvSpPr>
            <a:spLocks noGrp="1"/>
          </p:cNvSpPr>
          <p:nvPr>
            <p:ph type="sldNum" sz="quarter" idx="5"/>
          </p:nvPr>
        </p:nvSpPr>
        <p:spPr/>
        <p:txBody>
          <a:bodyPr/>
          <a:lstStyle/>
          <a:p>
            <a:fld id="{7C366290-4595-5745-A50F-D5EC13BAC604}" type="slidenum">
              <a:rPr lang="en-US" noProof="0" smtClean="0"/>
              <a:t>4</a:t>
            </a:fld>
            <a:endParaRPr lang="en-US" noProof="0" dirty="0"/>
          </a:p>
        </p:txBody>
      </p:sp>
    </p:spTree>
    <p:extLst>
      <p:ext uri="{BB962C8B-B14F-4D97-AF65-F5344CB8AC3E}">
        <p14:creationId xmlns:p14="http://schemas.microsoft.com/office/powerpoint/2010/main" val="31590269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54072-6758-7A39-D70D-FC545274CE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CAD551-AA92-96E5-9AC2-37BB27EAC0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B67566-1851-8540-0E7D-7A5EAA28D1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26720B-58C4-43F6-6883-E78E41182379}"/>
              </a:ext>
            </a:extLst>
          </p:cNvPr>
          <p:cNvSpPr>
            <a:spLocks noGrp="1"/>
          </p:cNvSpPr>
          <p:nvPr>
            <p:ph type="sldNum" sz="quarter" idx="5"/>
          </p:nvPr>
        </p:nvSpPr>
        <p:spPr/>
        <p:txBody>
          <a:bodyPr/>
          <a:lstStyle/>
          <a:p>
            <a:fld id="{7C366290-4595-5745-A50F-D5EC13BAC604}" type="slidenum">
              <a:rPr lang="en-US" noProof="0" smtClean="0"/>
              <a:t>5</a:t>
            </a:fld>
            <a:endParaRPr lang="en-US" noProof="0" dirty="0"/>
          </a:p>
        </p:txBody>
      </p:sp>
    </p:spTree>
    <p:extLst>
      <p:ext uri="{BB962C8B-B14F-4D97-AF65-F5344CB8AC3E}">
        <p14:creationId xmlns:p14="http://schemas.microsoft.com/office/powerpoint/2010/main" val="27541497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D860C-4A42-5327-5383-745D80D284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117AA5-2769-53FF-EE89-B4FBABFF3D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80A696-1487-82F6-EEF5-5F9FA9D444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1B5935-7EB3-26DB-2FBD-7CF4FC44F2CC}"/>
              </a:ext>
            </a:extLst>
          </p:cNvPr>
          <p:cNvSpPr>
            <a:spLocks noGrp="1"/>
          </p:cNvSpPr>
          <p:nvPr>
            <p:ph type="sldNum" sz="quarter" idx="5"/>
          </p:nvPr>
        </p:nvSpPr>
        <p:spPr/>
        <p:txBody>
          <a:bodyPr/>
          <a:lstStyle/>
          <a:p>
            <a:fld id="{7C366290-4595-5745-A50F-D5EC13BAC604}" type="slidenum">
              <a:rPr lang="en-US" noProof="0" smtClean="0"/>
              <a:t>6</a:t>
            </a:fld>
            <a:endParaRPr lang="en-US" noProof="0" dirty="0"/>
          </a:p>
        </p:txBody>
      </p:sp>
    </p:spTree>
    <p:extLst>
      <p:ext uri="{BB962C8B-B14F-4D97-AF65-F5344CB8AC3E}">
        <p14:creationId xmlns:p14="http://schemas.microsoft.com/office/powerpoint/2010/main" val="41526032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74462-4E2C-E25D-5405-8D09895FB0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A1E24F-6CF1-09FD-B98D-3B4CDFB4A5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42BC6D-0E3F-40D3-C8BF-8040987E2C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7ABA62-AB3B-BFD0-27B5-931CC33DE158}"/>
              </a:ext>
            </a:extLst>
          </p:cNvPr>
          <p:cNvSpPr>
            <a:spLocks noGrp="1"/>
          </p:cNvSpPr>
          <p:nvPr>
            <p:ph type="sldNum" sz="quarter" idx="5"/>
          </p:nvPr>
        </p:nvSpPr>
        <p:spPr/>
        <p:txBody>
          <a:bodyPr/>
          <a:lstStyle/>
          <a:p>
            <a:fld id="{7C366290-4595-5745-A50F-D5EC13BAC604}" type="slidenum">
              <a:rPr lang="en-US" noProof="0" smtClean="0"/>
              <a:t>7</a:t>
            </a:fld>
            <a:endParaRPr lang="en-US" noProof="0" dirty="0"/>
          </a:p>
        </p:txBody>
      </p:sp>
    </p:spTree>
    <p:extLst>
      <p:ext uri="{BB962C8B-B14F-4D97-AF65-F5344CB8AC3E}">
        <p14:creationId xmlns:p14="http://schemas.microsoft.com/office/powerpoint/2010/main" val="41066012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9BA2D-87EE-BA99-4981-81E836C304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49CA5C-6647-28A4-43C3-A6DB632ECB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8751AF-0844-2BE7-6156-247F0C3259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351752-3609-60FE-9E71-7FE850517F31}"/>
              </a:ext>
            </a:extLst>
          </p:cNvPr>
          <p:cNvSpPr>
            <a:spLocks noGrp="1"/>
          </p:cNvSpPr>
          <p:nvPr>
            <p:ph type="sldNum" sz="quarter" idx="5"/>
          </p:nvPr>
        </p:nvSpPr>
        <p:spPr/>
        <p:txBody>
          <a:bodyPr/>
          <a:lstStyle/>
          <a:p>
            <a:fld id="{7C366290-4595-5745-A50F-D5EC13BAC604}" type="slidenum">
              <a:rPr lang="en-US" noProof="0" smtClean="0"/>
              <a:t>8</a:t>
            </a:fld>
            <a:endParaRPr lang="en-US" noProof="0" dirty="0"/>
          </a:p>
        </p:txBody>
      </p:sp>
    </p:spTree>
    <p:extLst>
      <p:ext uri="{BB962C8B-B14F-4D97-AF65-F5344CB8AC3E}">
        <p14:creationId xmlns:p14="http://schemas.microsoft.com/office/powerpoint/2010/main" val="4855715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DC8C6-FE5C-7778-E4FD-B3F16312FB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76DF90-AAFF-3A62-0CB2-1FC1351585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AEBEB0-343D-D710-D1A0-2F26F56BBA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2F7C4AB-32D2-1306-6735-CB1D2AC168FA}"/>
              </a:ext>
            </a:extLst>
          </p:cNvPr>
          <p:cNvSpPr>
            <a:spLocks noGrp="1"/>
          </p:cNvSpPr>
          <p:nvPr>
            <p:ph type="sldNum" sz="quarter" idx="5"/>
          </p:nvPr>
        </p:nvSpPr>
        <p:spPr/>
        <p:txBody>
          <a:bodyPr/>
          <a:lstStyle/>
          <a:p>
            <a:fld id="{7C366290-4595-5745-A50F-D5EC13BAC604}" type="slidenum">
              <a:rPr lang="en-US" noProof="0" smtClean="0"/>
              <a:t>9</a:t>
            </a:fld>
            <a:endParaRPr lang="en-US" noProof="0" dirty="0"/>
          </a:p>
        </p:txBody>
      </p:sp>
    </p:spTree>
    <p:extLst>
      <p:ext uri="{BB962C8B-B14F-4D97-AF65-F5344CB8AC3E}">
        <p14:creationId xmlns:p14="http://schemas.microsoft.com/office/powerpoint/2010/main" val="23157328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C4B81-A5C6-36E8-7CAA-F9A52234EC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8A5E61-EC1E-4EB4-7E4E-F68AAAE5A6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AB5136-3058-816C-22EA-46557D1B101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ECE68BE-551A-352A-98EB-50E5D68083EF}"/>
              </a:ext>
            </a:extLst>
          </p:cNvPr>
          <p:cNvSpPr>
            <a:spLocks noGrp="1"/>
          </p:cNvSpPr>
          <p:nvPr>
            <p:ph type="sldNum" sz="quarter" idx="5"/>
          </p:nvPr>
        </p:nvSpPr>
        <p:spPr/>
        <p:txBody>
          <a:bodyPr/>
          <a:lstStyle/>
          <a:p>
            <a:fld id="{7C366290-4595-5745-A50F-D5EC13BAC604}" type="slidenum">
              <a:rPr lang="en-US" noProof="0" smtClean="0"/>
              <a:t>10</a:t>
            </a:fld>
            <a:endParaRPr lang="en-US" noProof="0" dirty="0"/>
          </a:p>
        </p:txBody>
      </p:sp>
    </p:spTree>
    <p:extLst>
      <p:ext uri="{BB962C8B-B14F-4D97-AF65-F5344CB8AC3E}">
        <p14:creationId xmlns:p14="http://schemas.microsoft.com/office/powerpoint/2010/main" val="26626961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D3ACA-F0D1-EE31-E9C5-BB128002C0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AACB-78D0-1FA0-E4B0-261A10810D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09A984-2A63-0105-C3A1-317444673C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9DCEFA-57DC-BDC5-7818-81AA7FAA124E}"/>
              </a:ext>
            </a:extLst>
          </p:cNvPr>
          <p:cNvSpPr>
            <a:spLocks noGrp="1"/>
          </p:cNvSpPr>
          <p:nvPr>
            <p:ph type="sldNum" sz="quarter" idx="5"/>
          </p:nvPr>
        </p:nvSpPr>
        <p:spPr/>
        <p:txBody>
          <a:bodyPr/>
          <a:lstStyle/>
          <a:p>
            <a:fld id="{7C366290-4595-5745-A50F-D5EC13BAC604}" type="slidenum">
              <a:rPr lang="en-US" noProof="0" smtClean="0"/>
              <a:t>11</a:t>
            </a:fld>
            <a:endParaRPr lang="en-US" noProof="0" dirty="0"/>
          </a:p>
        </p:txBody>
      </p:sp>
    </p:spTree>
    <p:extLst>
      <p:ext uri="{BB962C8B-B14F-4D97-AF65-F5344CB8AC3E}">
        <p14:creationId xmlns:p14="http://schemas.microsoft.com/office/powerpoint/2010/main" val="33353356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1F805-8C20-97F6-14C1-90D655238F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06B0CD-BB73-4840-4036-4FA276620F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ECADF3-4314-C62C-E1A8-2D970D8441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5C69F9D-C7E0-4794-54E1-9B37E3BA0214}"/>
              </a:ext>
            </a:extLst>
          </p:cNvPr>
          <p:cNvSpPr>
            <a:spLocks noGrp="1"/>
          </p:cNvSpPr>
          <p:nvPr>
            <p:ph type="sldNum" sz="quarter" idx="5"/>
          </p:nvPr>
        </p:nvSpPr>
        <p:spPr/>
        <p:txBody>
          <a:bodyPr/>
          <a:lstStyle/>
          <a:p>
            <a:fld id="{7C366290-4595-5745-A50F-D5EC13BAC604}" type="slidenum">
              <a:rPr lang="en-US" noProof="0" smtClean="0"/>
              <a:t>12</a:t>
            </a:fld>
            <a:endParaRPr lang="en-US" noProof="0" dirty="0"/>
          </a:p>
        </p:txBody>
      </p:sp>
    </p:spTree>
    <p:extLst>
      <p:ext uri="{BB962C8B-B14F-4D97-AF65-F5344CB8AC3E}">
        <p14:creationId xmlns:p14="http://schemas.microsoft.com/office/powerpoint/2010/main" val="14486128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AD0F1-363B-5149-D8FC-83D5B21148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6238B4-5A0B-95A7-5703-8A88484252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2F1CE8-24DC-1A78-44E2-068AF4F319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2D7D0E-0B46-9C6E-B425-03C6D1629491}"/>
              </a:ext>
            </a:extLst>
          </p:cNvPr>
          <p:cNvSpPr>
            <a:spLocks noGrp="1"/>
          </p:cNvSpPr>
          <p:nvPr>
            <p:ph type="sldNum" sz="quarter" idx="5"/>
          </p:nvPr>
        </p:nvSpPr>
        <p:spPr/>
        <p:txBody>
          <a:bodyPr/>
          <a:lstStyle/>
          <a:p>
            <a:fld id="{7C366290-4595-5745-A50F-D5EC13BAC604}" type="slidenum">
              <a:rPr lang="en-US" noProof="0" smtClean="0"/>
              <a:t>13</a:t>
            </a:fld>
            <a:endParaRPr lang="en-US" noProof="0" dirty="0"/>
          </a:p>
        </p:txBody>
      </p:sp>
    </p:spTree>
    <p:extLst>
      <p:ext uri="{BB962C8B-B14F-4D97-AF65-F5344CB8AC3E}">
        <p14:creationId xmlns:p14="http://schemas.microsoft.com/office/powerpoint/2010/main" val="33950390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4B169-8294-ADE0-FB09-F475E5F40B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B870C4-D0D7-C726-0E84-32D4562F7A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CD4E1F-B40E-8EA8-3375-D520E9EAD1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7EF374-17BD-698D-8A36-68D00BA12FF4}"/>
              </a:ext>
            </a:extLst>
          </p:cNvPr>
          <p:cNvSpPr>
            <a:spLocks noGrp="1"/>
          </p:cNvSpPr>
          <p:nvPr>
            <p:ph type="sldNum" sz="quarter" idx="5"/>
          </p:nvPr>
        </p:nvSpPr>
        <p:spPr/>
        <p:txBody>
          <a:bodyPr/>
          <a:lstStyle/>
          <a:p>
            <a:fld id="{7C366290-4595-5745-A50F-D5EC13BAC604}" type="slidenum">
              <a:rPr lang="en-US" noProof="0" smtClean="0"/>
              <a:t>14</a:t>
            </a:fld>
            <a:endParaRPr lang="en-US" noProof="0" dirty="0"/>
          </a:p>
        </p:txBody>
      </p:sp>
    </p:spTree>
    <p:extLst>
      <p:ext uri="{BB962C8B-B14F-4D97-AF65-F5344CB8AC3E}">
        <p14:creationId xmlns:p14="http://schemas.microsoft.com/office/powerpoint/2010/main" val="22120103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EF844-D2B5-E674-10DD-FC9B013405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6F6BCD-EB3E-6092-FDB5-57076D038A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7D4280-5D10-095F-B525-D7434937C0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4F640D-7D5F-4099-DFDC-B0089016E490}"/>
              </a:ext>
            </a:extLst>
          </p:cNvPr>
          <p:cNvSpPr>
            <a:spLocks noGrp="1"/>
          </p:cNvSpPr>
          <p:nvPr>
            <p:ph type="sldNum" sz="quarter" idx="5"/>
          </p:nvPr>
        </p:nvSpPr>
        <p:spPr/>
        <p:txBody>
          <a:bodyPr/>
          <a:lstStyle/>
          <a:p>
            <a:fld id="{7C366290-4595-5745-A50F-D5EC13BAC604}" type="slidenum">
              <a:rPr lang="en-US" noProof="0" smtClean="0"/>
              <a:t>15</a:t>
            </a:fld>
            <a:endParaRPr lang="en-US" noProof="0" dirty="0"/>
          </a:p>
        </p:txBody>
      </p:sp>
    </p:spTree>
    <p:extLst>
      <p:ext uri="{BB962C8B-B14F-4D97-AF65-F5344CB8AC3E}">
        <p14:creationId xmlns:p14="http://schemas.microsoft.com/office/powerpoint/2010/main" val="19144147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40124-499D-0B47-8680-645C44B20E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EF4B15-E734-04D6-F71A-B4E603A9D2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064749-6F78-F726-6D19-CCD10B0591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CE2233-B689-010F-BFE5-3C2E9E37FF6D}"/>
              </a:ext>
            </a:extLst>
          </p:cNvPr>
          <p:cNvSpPr>
            <a:spLocks noGrp="1"/>
          </p:cNvSpPr>
          <p:nvPr>
            <p:ph type="sldNum" sz="quarter" idx="5"/>
          </p:nvPr>
        </p:nvSpPr>
        <p:spPr/>
        <p:txBody>
          <a:bodyPr/>
          <a:lstStyle/>
          <a:p>
            <a:fld id="{7C366290-4595-5745-A50F-D5EC13BAC604}" type="slidenum">
              <a:rPr lang="en-US" noProof="0" smtClean="0"/>
              <a:t>16</a:t>
            </a:fld>
            <a:endParaRPr lang="en-US" noProof="0" dirty="0"/>
          </a:p>
        </p:txBody>
      </p:sp>
    </p:spTree>
    <p:extLst>
      <p:ext uri="{BB962C8B-B14F-4D97-AF65-F5344CB8AC3E}">
        <p14:creationId xmlns:p14="http://schemas.microsoft.com/office/powerpoint/2010/main" val="41738051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4E474-6B80-E1B1-BCA4-B130165E70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90F2BD-55B5-7B77-FEAA-2FA06BACB6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0EFFD5-FAFD-7433-AE8E-75698E956C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7A9394-CAAD-BC76-5C35-213A923FE71D}"/>
              </a:ext>
            </a:extLst>
          </p:cNvPr>
          <p:cNvSpPr>
            <a:spLocks noGrp="1"/>
          </p:cNvSpPr>
          <p:nvPr>
            <p:ph type="sldNum" sz="quarter" idx="5"/>
          </p:nvPr>
        </p:nvSpPr>
        <p:spPr/>
        <p:txBody>
          <a:bodyPr/>
          <a:lstStyle/>
          <a:p>
            <a:fld id="{7C366290-4595-5745-A50F-D5EC13BAC604}" type="slidenum">
              <a:rPr lang="en-US" noProof="0" smtClean="0"/>
              <a:t>17</a:t>
            </a:fld>
            <a:endParaRPr lang="en-US" noProof="0" dirty="0"/>
          </a:p>
        </p:txBody>
      </p:sp>
    </p:spTree>
    <p:extLst>
      <p:ext uri="{BB962C8B-B14F-4D97-AF65-F5344CB8AC3E}">
        <p14:creationId xmlns:p14="http://schemas.microsoft.com/office/powerpoint/2010/main" val="22531166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CF4E3-07E6-560D-3871-A7C56884A4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764021-C85B-27F6-8167-CA2D92884E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815E86-C342-206A-68C1-0BAD62C4DE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C8124E-6E60-EF95-6582-71B851D5A819}"/>
              </a:ext>
            </a:extLst>
          </p:cNvPr>
          <p:cNvSpPr>
            <a:spLocks noGrp="1"/>
          </p:cNvSpPr>
          <p:nvPr>
            <p:ph type="sldNum" sz="quarter" idx="5"/>
          </p:nvPr>
        </p:nvSpPr>
        <p:spPr/>
        <p:txBody>
          <a:bodyPr/>
          <a:lstStyle/>
          <a:p>
            <a:fld id="{7C366290-4595-5745-A50F-D5EC13BAC604}" type="slidenum">
              <a:rPr lang="en-US" noProof="0" smtClean="0"/>
              <a:t>18</a:t>
            </a:fld>
            <a:endParaRPr lang="en-US" noProof="0" dirty="0"/>
          </a:p>
        </p:txBody>
      </p:sp>
    </p:spTree>
    <p:extLst>
      <p:ext uri="{BB962C8B-B14F-4D97-AF65-F5344CB8AC3E}">
        <p14:creationId xmlns:p14="http://schemas.microsoft.com/office/powerpoint/2010/main" val="29358155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3DCEE-0F39-4F7B-B5E5-9E8D22138D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728DB6-9996-DEF9-F4A8-30FDA7B65F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4C208A-4BAA-C37E-2B4D-490234B99A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571FE4-6F0D-FD54-E59E-9D4EA8DE2F27}"/>
              </a:ext>
            </a:extLst>
          </p:cNvPr>
          <p:cNvSpPr>
            <a:spLocks noGrp="1"/>
          </p:cNvSpPr>
          <p:nvPr>
            <p:ph type="sldNum" sz="quarter" idx="5"/>
          </p:nvPr>
        </p:nvSpPr>
        <p:spPr/>
        <p:txBody>
          <a:bodyPr/>
          <a:lstStyle/>
          <a:p>
            <a:fld id="{7C366290-4595-5745-A50F-D5EC13BAC604}" type="slidenum">
              <a:rPr lang="en-US" noProof="0" smtClean="0"/>
              <a:t>19</a:t>
            </a:fld>
            <a:endParaRPr lang="en-US" noProof="0" dirty="0"/>
          </a:p>
        </p:txBody>
      </p:sp>
    </p:spTree>
    <p:extLst>
      <p:ext uri="{BB962C8B-B14F-4D97-AF65-F5344CB8AC3E}">
        <p14:creationId xmlns:p14="http://schemas.microsoft.com/office/powerpoint/2010/main" val="31251520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20</a:t>
            </a:fld>
            <a:endParaRPr lang="en-US" noProof="0" dirty="0"/>
          </a:p>
        </p:txBody>
      </p:sp>
    </p:spTree>
    <p:extLst>
      <p:ext uri="{BB962C8B-B14F-4D97-AF65-F5344CB8AC3E}">
        <p14:creationId xmlns:p14="http://schemas.microsoft.com/office/powerpoint/2010/main" val="410555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6464807"/>
            <a:ext cx="661415" cy="310896"/>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gsmanivel/sla-assignment"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915924" y="914400"/>
            <a:ext cx="10360152" cy="5029200"/>
          </a:xfrm>
        </p:spPr>
        <p:txBody>
          <a:bodyPr anchor="ctr"/>
          <a:lstStyle/>
          <a:p>
            <a:r>
              <a:rPr lang="en-US" sz="3200" dirty="0"/>
              <a:t>                                                               SLA Assignment</a:t>
            </a:r>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5BB81-A45D-71B0-CE65-C8EE052CF1AC}"/>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D7CAEDDB-CD5E-3065-553C-DD56B77BC698}"/>
              </a:ext>
            </a:extLst>
          </p:cNvPr>
          <p:cNvSpPr>
            <a:spLocks noGrp="1"/>
          </p:cNvSpPr>
          <p:nvPr>
            <p:ph type="title"/>
          </p:nvPr>
        </p:nvSpPr>
        <p:spPr>
          <a:xfrm>
            <a:off x="0" y="0"/>
            <a:ext cx="8982635" cy="510988"/>
          </a:xfrm>
        </p:spPr>
        <p:txBody>
          <a:bodyPr/>
          <a:lstStyle/>
          <a:p>
            <a:r>
              <a:rPr lang="en-US" dirty="0">
                <a:solidFill>
                  <a:srgbClr val="002060"/>
                </a:solidFill>
              </a:rPr>
              <a:t>SLA </a:t>
            </a:r>
            <a:r>
              <a:rPr lang="en-US" sz="3200" dirty="0">
                <a:solidFill>
                  <a:srgbClr val="002060"/>
                </a:solidFill>
              </a:rPr>
              <a:t>Assignment</a:t>
            </a:r>
            <a:endParaRPr lang="en-US" dirty="0">
              <a:solidFill>
                <a:srgbClr val="002060"/>
              </a:solidFill>
            </a:endParaRPr>
          </a:p>
        </p:txBody>
      </p:sp>
      <p:sp>
        <p:nvSpPr>
          <p:cNvPr id="2" name="Slide Number Placeholder 1">
            <a:extLst>
              <a:ext uri="{FF2B5EF4-FFF2-40B4-BE49-F238E27FC236}">
                <a16:creationId xmlns:a16="http://schemas.microsoft.com/office/drawing/2014/main" id="{4061F49D-AEA9-00D6-E877-687EA6222E2B}"/>
              </a:ext>
            </a:extLst>
          </p:cNvPr>
          <p:cNvSpPr>
            <a:spLocks noGrp="1"/>
          </p:cNvSpPr>
          <p:nvPr>
            <p:ph type="sldNum" sz="quarter" idx="4"/>
          </p:nvPr>
        </p:nvSpPr>
        <p:spPr>
          <a:xfrm>
            <a:off x="11842382" y="6571131"/>
            <a:ext cx="352134" cy="258362"/>
          </a:xfrm>
        </p:spPr>
        <p:txBody>
          <a:bodyPr/>
          <a:lstStyle/>
          <a:p>
            <a:fld id="{58FB4751-880F-D840-AAA9-3A15815CC996}" type="slidenum">
              <a:rPr lang="en-US" sz="1200" smtClean="0"/>
              <a:pPr/>
              <a:t>2</a:t>
            </a:fld>
            <a:endParaRPr lang="en-US" sz="1200" dirty="0"/>
          </a:p>
        </p:txBody>
      </p:sp>
      <p:sp>
        <p:nvSpPr>
          <p:cNvPr id="13" name="TextBox 12">
            <a:extLst>
              <a:ext uri="{FF2B5EF4-FFF2-40B4-BE49-F238E27FC236}">
                <a16:creationId xmlns:a16="http://schemas.microsoft.com/office/drawing/2014/main" id="{7DACDB47-0529-10F2-3CAD-896B09E18927}"/>
              </a:ext>
            </a:extLst>
          </p:cNvPr>
          <p:cNvSpPr txBox="1"/>
          <p:nvPr/>
        </p:nvSpPr>
        <p:spPr>
          <a:xfrm>
            <a:off x="8960" y="1134331"/>
            <a:ext cx="9941860" cy="3754874"/>
          </a:xfrm>
          <a:prstGeom prst="rect">
            <a:avLst/>
          </a:prstGeom>
          <a:noFill/>
        </p:spPr>
        <p:txBody>
          <a:bodyPr wrap="square" rtlCol="0">
            <a:spAutoFit/>
          </a:bodyPr>
          <a:lstStyle/>
          <a:p>
            <a:r>
              <a:rPr lang="en-US" sz="1400" b="1" dirty="0">
                <a:solidFill>
                  <a:srgbClr val="0070C0"/>
                </a:solidFill>
              </a:rPr>
              <a:t>Models used in this assignment:</a:t>
            </a:r>
          </a:p>
          <a:p>
            <a:r>
              <a:rPr lang="en-US" sz="1400" dirty="0"/>
              <a:t>Here's a short explanation of the models used and why they are suitable for this problem:</a:t>
            </a:r>
          </a:p>
          <a:p>
            <a:r>
              <a:rPr lang="en-US" sz="1400" b="1" dirty="0">
                <a:solidFill>
                  <a:srgbClr val="0070C0"/>
                </a:solidFill>
              </a:rPr>
              <a:t>Prophet: </a:t>
            </a:r>
            <a:r>
              <a:rPr lang="en-US" sz="1400" dirty="0"/>
              <a:t>This is a time series forecasting model developed by Facebook. It's designed for time series data that has strong seasonal effects and holidays. In this problem, ward occupancy data likely exhibits daily, weekly, and potentially yearly seasonality, making Prophet a suitable choice for capturing these patterns. It also handles missing data and outliers well.</a:t>
            </a:r>
          </a:p>
          <a:p>
            <a:endParaRPr lang="en-US" sz="1400" dirty="0"/>
          </a:p>
          <a:p>
            <a:r>
              <a:rPr lang="en-US" sz="1400" b="1" dirty="0">
                <a:solidFill>
                  <a:srgbClr val="0070C0"/>
                </a:solidFill>
              </a:rPr>
              <a:t>Random Forest: </a:t>
            </a:r>
            <a:r>
              <a:rPr lang="en-US" sz="1400" dirty="0"/>
              <a:t>This is an ensemble learning method that builds multiple decision trees and merges their predictions to get a more accurate and stable forecast. It can capture non-linear relationships between the features (like lag occupancy and time-based features) and the target variable (occupancy). It's suitable here because we've engineered features that represent past occupancy and temporal patterns, which Random Forest can leverage.</a:t>
            </a:r>
          </a:p>
          <a:p>
            <a:endParaRPr lang="en-US" sz="1400" dirty="0"/>
          </a:p>
          <a:p>
            <a:r>
              <a:rPr lang="en-US" sz="1400" b="1" dirty="0" err="1">
                <a:solidFill>
                  <a:srgbClr val="0070C0"/>
                </a:solidFill>
              </a:rPr>
              <a:t>XGBoost</a:t>
            </a:r>
            <a:r>
              <a:rPr lang="en-US" sz="1400" b="1" dirty="0">
                <a:solidFill>
                  <a:srgbClr val="0070C0"/>
                </a:solidFill>
              </a:rPr>
              <a:t>: </a:t>
            </a:r>
            <a:r>
              <a:rPr lang="en-US" sz="1400" dirty="0"/>
              <a:t>This is another powerful gradient boosting algorithm that is an improvement over traditional gradient boosting. It's known for its speed and performance in various machine learning tasks, including regression. Similar to Random Forest, it can model complex relationships between the engineered features and occupancy. Its boosting approach often leads to higher accuracy compared to Random Forest, making it a good candidate for this forecasting problem.</a:t>
            </a:r>
          </a:p>
          <a:p>
            <a:r>
              <a:rPr lang="en-US" sz="1400" dirty="0"/>
              <a:t>Both Random Forest and </a:t>
            </a:r>
            <a:r>
              <a:rPr lang="en-US" sz="1400" dirty="0" err="1"/>
              <a:t>XGBoost</a:t>
            </a:r>
            <a:r>
              <a:rPr lang="en-US" sz="1400" dirty="0"/>
              <a:t> are suitable because they can utilize the engineered features (lagged occupancy, day of week, month) to predict future occupancy, treating it as a regression problem based on historical patterns and temporal information.</a:t>
            </a:r>
          </a:p>
        </p:txBody>
      </p:sp>
      <p:sp>
        <p:nvSpPr>
          <p:cNvPr id="16" name="TextBox 15">
            <a:extLst>
              <a:ext uri="{FF2B5EF4-FFF2-40B4-BE49-F238E27FC236}">
                <a16:creationId xmlns:a16="http://schemas.microsoft.com/office/drawing/2014/main" id="{D2E9E5BC-5E99-BDBF-6FF7-F604F77CA619}"/>
              </a:ext>
            </a:extLst>
          </p:cNvPr>
          <p:cNvSpPr txBox="1"/>
          <p:nvPr/>
        </p:nvSpPr>
        <p:spPr>
          <a:xfrm>
            <a:off x="-1" y="599746"/>
            <a:ext cx="8193741" cy="523220"/>
          </a:xfrm>
          <a:prstGeom prst="rect">
            <a:avLst/>
          </a:prstGeom>
          <a:noFill/>
        </p:spPr>
        <p:txBody>
          <a:bodyPr wrap="square">
            <a:spAutoFit/>
          </a:bodyPr>
          <a:lstStyle/>
          <a:p>
            <a:r>
              <a:rPr lang="en-US" sz="2800" b="1" dirty="0">
                <a:solidFill>
                  <a:schemeClr val="accent1">
                    <a:lumMod val="50000"/>
                  </a:schemeClr>
                </a:solidFill>
              </a:rPr>
              <a:t>Assignment Goal : </a:t>
            </a:r>
            <a:r>
              <a:rPr lang="en-US" sz="2800" b="1" dirty="0">
                <a:solidFill>
                  <a:srgbClr val="0070C0"/>
                </a:solidFill>
              </a:rPr>
              <a:t>Forecast daily ward occupancy Load</a:t>
            </a:r>
          </a:p>
        </p:txBody>
      </p:sp>
    </p:spTree>
    <p:extLst>
      <p:ext uri="{BB962C8B-B14F-4D97-AF65-F5344CB8AC3E}">
        <p14:creationId xmlns:p14="http://schemas.microsoft.com/office/powerpoint/2010/main" val="534438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01D10-EEFF-DA3E-1F8A-87E7172E2BFD}"/>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9C857B87-9D79-266E-0E39-256529820F4D}"/>
              </a:ext>
            </a:extLst>
          </p:cNvPr>
          <p:cNvSpPr>
            <a:spLocks noGrp="1"/>
          </p:cNvSpPr>
          <p:nvPr>
            <p:ph type="title"/>
          </p:nvPr>
        </p:nvSpPr>
        <p:spPr>
          <a:xfrm>
            <a:off x="0" y="0"/>
            <a:ext cx="8982635" cy="510988"/>
          </a:xfrm>
        </p:spPr>
        <p:txBody>
          <a:bodyPr/>
          <a:lstStyle/>
          <a:p>
            <a:r>
              <a:rPr lang="en-US" dirty="0">
                <a:solidFill>
                  <a:srgbClr val="002060"/>
                </a:solidFill>
              </a:rPr>
              <a:t>SLA </a:t>
            </a:r>
            <a:r>
              <a:rPr lang="en-US" sz="3200" dirty="0">
                <a:solidFill>
                  <a:srgbClr val="002060"/>
                </a:solidFill>
              </a:rPr>
              <a:t>Assignment</a:t>
            </a:r>
            <a:endParaRPr lang="en-US" dirty="0">
              <a:solidFill>
                <a:srgbClr val="002060"/>
              </a:solidFill>
            </a:endParaRPr>
          </a:p>
        </p:txBody>
      </p:sp>
      <p:sp>
        <p:nvSpPr>
          <p:cNvPr id="2" name="Slide Number Placeholder 1">
            <a:extLst>
              <a:ext uri="{FF2B5EF4-FFF2-40B4-BE49-F238E27FC236}">
                <a16:creationId xmlns:a16="http://schemas.microsoft.com/office/drawing/2014/main" id="{8E486AE0-B7FB-3E66-3339-77E43904AF47}"/>
              </a:ext>
            </a:extLst>
          </p:cNvPr>
          <p:cNvSpPr>
            <a:spLocks noGrp="1"/>
          </p:cNvSpPr>
          <p:nvPr>
            <p:ph type="sldNum" sz="quarter" idx="4"/>
          </p:nvPr>
        </p:nvSpPr>
        <p:spPr>
          <a:xfrm>
            <a:off x="11842382" y="6571131"/>
            <a:ext cx="352134" cy="258362"/>
          </a:xfrm>
        </p:spPr>
        <p:txBody>
          <a:bodyPr/>
          <a:lstStyle/>
          <a:p>
            <a:fld id="{58FB4751-880F-D840-AAA9-3A15815CC996}" type="slidenum">
              <a:rPr lang="en-US" sz="1200" smtClean="0"/>
              <a:pPr/>
              <a:t>3</a:t>
            </a:fld>
            <a:endParaRPr lang="en-US" sz="1200" dirty="0"/>
          </a:p>
        </p:txBody>
      </p:sp>
      <p:sp>
        <p:nvSpPr>
          <p:cNvPr id="13" name="TextBox 12">
            <a:extLst>
              <a:ext uri="{FF2B5EF4-FFF2-40B4-BE49-F238E27FC236}">
                <a16:creationId xmlns:a16="http://schemas.microsoft.com/office/drawing/2014/main" id="{EB637859-C1EB-01E5-8D1E-E3CCADD68D36}"/>
              </a:ext>
            </a:extLst>
          </p:cNvPr>
          <p:cNvSpPr txBox="1"/>
          <p:nvPr/>
        </p:nvSpPr>
        <p:spPr>
          <a:xfrm>
            <a:off x="8959" y="1134331"/>
            <a:ext cx="10291487" cy="3754874"/>
          </a:xfrm>
          <a:prstGeom prst="rect">
            <a:avLst/>
          </a:prstGeom>
          <a:noFill/>
        </p:spPr>
        <p:txBody>
          <a:bodyPr wrap="square" rtlCol="0">
            <a:spAutoFit/>
          </a:bodyPr>
          <a:lstStyle/>
          <a:p>
            <a:r>
              <a:rPr lang="en-US" sz="1400" b="1" dirty="0">
                <a:solidFill>
                  <a:srgbClr val="0070C0"/>
                </a:solidFill>
              </a:rPr>
              <a:t>Planning</a:t>
            </a:r>
            <a:r>
              <a:rPr lang="en-US" sz="1400" dirty="0"/>
              <a:t>:</a:t>
            </a:r>
          </a:p>
          <a:p>
            <a:pPr marL="342900" indent="-342900">
              <a:buFont typeface="+mj-lt"/>
              <a:buAutoNum type="arabicPeriod"/>
            </a:pPr>
            <a:r>
              <a:rPr lang="en-US" sz="1400" b="1" dirty="0">
                <a:solidFill>
                  <a:srgbClr val="0070C0"/>
                </a:solidFill>
              </a:rPr>
              <a:t>Mount Google Drive and Install Libraries:</a:t>
            </a:r>
            <a:r>
              <a:rPr lang="en-US" sz="1400" dirty="0">
                <a:solidFill>
                  <a:srgbClr val="0070C0"/>
                </a:solidFill>
              </a:rPr>
              <a:t> </a:t>
            </a:r>
            <a:r>
              <a:rPr lang="en-US" sz="1400" dirty="0"/>
              <a:t>Access dataset from Google Drive and install necessary libraries.</a:t>
            </a:r>
          </a:p>
          <a:p>
            <a:pPr marL="342900" indent="-342900">
              <a:buFont typeface="+mj-lt"/>
              <a:buAutoNum type="arabicPeriod"/>
            </a:pPr>
            <a:r>
              <a:rPr lang="en-US" sz="1400" b="1" dirty="0">
                <a:solidFill>
                  <a:srgbClr val="0070C0"/>
                </a:solidFill>
              </a:rPr>
              <a:t>Load and Demo the Dataset: </a:t>
            </a:r>
            <a:r>
              <a:rPr lang="en-US" sz="1400" dirty="0"/>
              <a:t>Load transfers.csv and perform basic exploration.</a:t>
            </a:r>
          </a:p>
          <a:p>
            <a:pPr marL="342900" indent="-342900">
              <a:buFont typeface="+mj-lt"/>
              <a:buAutoNum type="arabicPeriod"/>
            </a:pPr>
            <a:r>
              <a:rPr lang="en-US" sz="1400" b="1" dirty="0">
                <a:solidFill>
                  <a:srgbClr val="0070C0"/>
                </a:solidFill>
              </a:rPr>
              <a:t>Exploratory Data Analysis (EDA): </a:t>
            </a:r>
            <a:r>
              <a:rPr lang="en-US" sz="1400" dirty="0"/>
              <a:t>Analyze transfers table for data quality, feature selection, and cleaning needs.</a:t>
            </a:r>
          </a:p>
          <a:p>
            <a:pPr marL="342900" indent="-342900">
              <a:buFont typeface="+mj-lt"/>
              <a:buAutoNum type="arabicPeriod"/>
            </a:pPr>
            <a:r>
              <a:rPr lang="en-US" sz="1400" b="1" dirty="0">
                <a:solidFill>
                  <a:srgbClr val="0070C0"/>
                </a:solidFill>
              </a:rPr>
              <a:t>Aggregate Daily Ward Occupancy: </a:t>
            </a:r>
            <a:r>
              <a:rPr lang="en-US" sz="1400" dirty="0"/>
              <a:t>Calculate daily occupancy from transfer data.</a:t>
            </a:r>
          </a:p>
          <a:p>
            <a:pPr marL="342900" indent="-342900">
              <a:buFont typeface="+mj-lt"/>
              <a:buAutoNum type="arabicPeriod"/>
            </a:pPr>
            <a:r>
              <a:rPr lang="en-US" sz="1400" b="1" dirty="0">
                <a:solidFill>
                  <a:srgbClr val="0070C0"/>
                </a:solidFill>
              </a:rPr>
              <a:t>Time Series Forecasting with Prophet: </a:t>
            </a:r>
            <a:r>
              <a:rPr lang="en-US" sz="1400" dirty="0"/>
              <a:t>Build and evaluate a Prophet model for forecasting.</a:t>
            </a:r>
          </a:p>
          <a:p>
            <a:pPr marL="342900" indent="-342900">
              <a:buFont typeface="+mj-lt"/>
              <a:buAutoNum type="arabicPeriod"/>
            </a:pPr>
            <a:r>
              <a:rPr lang="en-US" sz="1400" b="1" dirty="0">
                <a:solidFill>
                  <a:srgbClr val="0070C0"/>
                </a:solidFill>
              </a:rPr>
              <a:t>Feature Engineering for Machine Learning Models</a:t>
            </a:r>
            <a:r>
              <a:rPr lang="en-US" sz="1400" b="1" dirty="0"/>
              <a:t>:</a:t>
            </a:r>
            <a:r>
              <a:rPr lang="en-US" sz="1400" dirty="0"/>
              <a:t> Create time-based and lag features.</a:t>
            </a:r>
          </a:p>
          <a:p>
            <a:pPr marL="342900" indent="-342900">
              <a:buFont typeface="+mj-lt"/>
              <a:buAutoNum type="arabicPeriod"/>
            </a:pPr>
            <a:r>
              <a:rPr lang="en-US" sz="1400" b="1" dirty="0">
                <a:solidFill>
                  <a:srgbClr val="0070C0"/>
                </a:solidFill>
              </a:rPr>
              <a:t>Random Forest Model: </a:t>
            </a:r>
            <a:r>
              <a:rPr lang="en-US" sz="1400" dirty="0"/>
              <a:t>Train, evaluate, and interpret a Random Forest model.</a:t>
            </a:r>
          </a:p>
          <a:p>
            <a:pPr marL="342900" indent="-342900">
              <a:buFont typeface="+mj-lt"/>
              <a:buAutoNum type="arabicPeriod"/>
            </a:pPr>
            <a:r>
              <a:rPr lang="en-US" sz="1400" b="1" dirty="0" err="1">
                <a:solidFill>
                  <a:srgbClr val="0070C0"/>
                </a:solidFill>
              </a:rPr>
              <a:t>XGBoost</a:t>
            </a:r>
            <a:r>
              <a:rPr lang="en-US" sz="1400" b="1" dirty="0">
                <a:solidFill>
                  <a:srgbClr val="0070C0"/>
                </a:solidFill>
              </a:rPr>
              <a:t> Model: </a:t>
            </a:r>
            <a:r>
              <a:rPr lang="en-US" sz="1400" dirty="0"/>
              <a:t>Train, evaluate, and interpret an </a:t>
            </a:r>
            <a:r>
              <a:rPr lang="en-US" sz="1400" dirty="0" err="1"/>
              <a:t>XGBoost</a:t>
            </a:r>
            <a:r>
              <a:rPr lang="en-US" sz="1400" dirty="0"/>
              <a:t> model.</a:t>
            </a:r>
          </a:p>
          <a:p>
            <a:endParaRPr lang="en-US" sz="1400" b="1" dirty="0"/>
          </a:p>
          <a:p>
            <a:r>
              <a:rPr lang="en-US" sz="1400" b="1" dirty="0">
                <a:solidFill>
                  <a:srgbClr val="0070C0"/>
                </a:solidFill>
              </a:rPr>
              <a:t>Tables used: </a:t>
            </a:r>
            <a:r>
              <a:rPr lang="en-US" sz="1400" dirty="0"/>
              <a:t>transfers.csv</a:t>
            </a:r>
          </a:p>
          <a:p>
            <a:endParaRPr lang="en-US" sz="1400" b="1" dirty="0"/>
          </a:p>
          <a:p>
            <a:r>
              <a:rPr lang="en-US" sz="1400" b="1" dirty="0">
                <a:solidFill>
                  <a:srgbClr val="0070C0"/>
                </a:solidFill>
              </a:rPr>
              <a:t>Columns Used (from transfers):</a:t>
            </a:r>
          </a:p>
          <a:p>
            <a:r>
              <a:rPr lang="en-US" sz="1400" dirty="0"/>
              <a:t>ROW_ID, SUBJECT_ID, HADM_ID, ICUSTAY_ID: Identifiers.</a:t>
            </a:r>
          </a:p>
          <a:p>
            <a:r>
              <a:rPr lang="en-US" sz="1400" dirty="0"/>
              <a:t>PREV_CAREUNIT, CURR_CAREUNIT: Used for tracking care unit changes.</a:t>
            </a:r>
          </a:p>
          <a:p>
            <a:r>
              <a:rPr lang="en-US" sz="1400" dirty="0"/>
              <a:t>INTIME, OUTTIME: Used for calculating duration and creating occupancy events.</a:t>
            </a:r>
          </a:p>
          <a:p>
            <a:r>
              <a:rPr lang="en-US" sz="1400" dirty="0"/>
              <a:t>DBSOURCE, EVENTTYPE, PREV_WARDID, CURR_WARDID, LOS: Available for potential analysis but not explicitly used in the current code.</a:t>
            </a:r>
          </a:p>
        </p:txBody>
      </p:sp>
      <p:sp>
        <p:nvSpPr>
          <p:cNvPr id="16" name="TextBox 15">
            <a:extLst>
              <a:ext uri="{FF2B5EF4-FFF2-40B4-BE49-F238E27FC236}">
                <a16:creationId xmlns:a16="http://schemas.microsoft.com/office/drawing/2014/main" id="{F9373EC8-D9B5-2564-958C-BF4F508530A0}"/>
              </a:ext>
            </a:extLst>
          </p:cNvPr>
          <p:cNvSpPr txBox="1"/>
          <p:nvPr/>
        </p:nvSpPr>
        <p:spPr>
          <a:xfrm>
            <a:off x="-1" y="599746"/>
            <a:ext cx="8193741" cy="523220"/>
          </a:xfrm>
          <a:prstGeom prst="rect">
            <a:avLst/>
          </a:prstGeom>
          <a:noFill/>
        </p:spPr>
        <p:txBody>
          <a:bodyPr wrap="square">
            <a:spAutoFit/>
          </a:bodyPr>
          <a:lstStyle/>
          <a:p>
            <a:r>
              <a:rPr lang="en-US" sz="2800" b="1" dirty="0">
                <a:solidFill>
                  <a:schemeClr val="accent1">
                    <a:lumMod val="50000"/>
                  </a:schemeClr>
                </a:solidFill>
              </a:rPr>
              <a:t>Planning:</a:t>
            </a:r>
            <a:endParaRPr lang="en-US" sz="2800" b="1" dirty="0">
              <a:solidFill>
                <a:srgbClr val="0070C0"/>
              </a:solidFill>
            </a:endParaRPr>
          </a:p>
        </p:txBody>
      </p:sp>
    </p:spTree>
    <p:extLst>
      <p:ext uri="{BB962C8B-B14F-4D97-AF65-F5344CB8AC3E}">
        <p14:creationId xmlns:p14="http://schemas.microsoft.com/office/powerpoint/2010/main" val="5509906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07C3F-955C-E85C-5E42-3CED2100ED2D}"/>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4E83A393-6884-9FA2-9060-E3ED4BA6E77B}"/>
              </a:ext>
            </a:extLst>
          </p:cNvPr>
          <p:cNvSpPr>
            <a:spLocks noGrp="1"/>
          </p:cNvSpPr>
          <p:nvPr>
            <p:ph type="title"/>
          </p:nvPr>
        </p:nvSpPr>
        <p:spPr>
          <a:xfrm>
            <a:off x="0" y="0"/>
            <a:ext cx="8982635" cy="510988"/>
          </a:xfrm>
        </p:spPr>
        <p:txBody>
          <a:bodyPr/>
          <a:lstStyle/>
          <a:p>
            <a:r>
              <a:rPr lang="en-US" dirty="0">
                <a:solidFill>
                  <a:srgbClr val="002060"/>
                </a:solidFill>
              </a:rPr>
              <a:t>SLA </a:t>
            </a:r>
            <a:r>
              <a:rPr lang="en-US" sz="3200" dirty="0">
                <a:solidFill>
                  <a:srgbClr val="002060"/>
                </a:solidFill>
              </a:rPr>
              <a:t>Assignment</a:t>
            </a:r>
            <a:endParaRPr lang="en-US" dirty="0">
              <a:solidFill>
                <a:srgbClr val="002060"/>
              </a:solidFill>
            </a:endParaRPr>
          </a:p>
        </p:txBody>
      </p:sp>
      <p:sp>
        <p:nvSpPr>
          <p:cNvPr id="2" name="Slide Number Placeholder 1">
            <a:extLst>
              <a:ext uri="{FF2B5EF4-FFF2-40B4-BE49-F238E27FC236}">
                <a16:creationId xmlns:a16="http://schemas.microsoft.com/office/drawing/2014/main" id="{BF311D25-D828-ECDC-A8D3-E27F4ED3F58D}"/>
              </a:ext>
            </a:extLst>
          </p:cNvPr>
          <p:cNvSpPr>
            <a:spLocks noGrp="1"/>
          </p:cNvSpPr>
          <p:nvPr>
            <p:ph type="sldNum" sz="quarter" idx="4"/>
          </p:nvPr>
        </p:nvSpPr>
        <p:spPr>
          <a:xfrm>
            <a:off x="11842382" y="6571131"/>
            <a:ext cx="352134" cy="258362"/>
          </a:xfrm>
        </p:spPr>
        <p:txBody>
          <a:bodyPr/>
          <a:lstStyle/>
          <a:p>
            <a:fld id="{58FB4751-880F-D840-AAA9-3A15815CC996}" type="slidenum">
              <a:rPr lang="en-US" sz="1200" smtClean="0"/>
              <a:pPr/>
              <a:t>4</a:t>
            </a:fld>
            <a:endParaRPr lang="en-US" sz="1200" dirty="0"/>
          </a:p>
        </p:txBody>
      </p:sp>
      <p:sp>
        <p:nvSpPr>
          <p:cNvPr id="13" name="TextBox 12">
            <a:extLst>
              <a:ext uri="{FF2B5EF4-FFF2-40B4-BE49-F238E27FC236}">
                <a16:creationId xmlns:a16="http://schemas.microsoft.com/office/drawing/2014/main" id="{94EE8283-6F16-0C5D-5507-48624EE4C55B}"/>
              </a:ext>
            </a:extLst>
          </p:cNvPr>
          <p:cNvSpPr txBox="1"/>
          <p:nvPr/>
        </p:nvSpPr>
        <p:spPr>
          <a:xfrm>
            <a:off x="8960" y="1134331"/>
            <a:ext cx="6853212" cy="1930785"/>
          </a:xfrm>
          <a:prstGeom prst="rect">
            <a:avLst/>
          </a:prstGeom>
          <a:noFill/>
        </p:spPr>
        <p:txBody>
          <a:bodyPr wrap="square" rtlCol="0">
            <a:spAutoFit/>
          </a:bodyPr>
          <a:lstStyle/>
          <a:p>
            <a:pPr marL="342900" indent="-342900">
              <a:lnSpc>
                <a:spcPts val="1800"/>
              </a:lnSpc>
              <a:buFont typeface="+mj-lt"/>
              <a:buAutoNum type="arabicPeriod"/>
            </a:pPr>
            <a:r>
              <a:rPr lang="en-US" sz="1400" b="1" dirty="0">
                <a:solidFill>
                  <a:srgbClr val="0070C0"/>
                </a:solidFill>
              </a:rPr>
              <a:t>Refer the Python code and Data set:</a:t>
            </a:r>
            <a:r>
              <a:rPr lang="en-US" sz="1400" dirty="0">
                <a:solidFill>
                  <a:srgbClr val="0070C0"/>
                </a:solidFill>
              </a:rPr>
              <a:t> </a:t>
            </a:r>
            <a:r>
              <a:rPr lang="en-US" sz="1400" dirty="0"/>
              <a:t>Obtain the necessary Python code and dataset from the specified GitHub Project. Git URL : </a:t>
            </a:r>
            <a:r>
              <a:rPr lang="en-US" sz="1600" dirty="0">
                <a:highlight>
                  <a:srgbClr val="FFFF00"/>
                </a:highlight>
                <a:hlinkClick r:id="rId3"/>
              </a:rPr>
              <a:t>https://github.com/gsmanivel/sla-assignment</a:t>
            </a:r>
            <a:endParaRPr lang="en-US" sz="1600" dirty="0">
              <a:highlight>
                <a:srgbClr val="FFFF00"/>
              </a:highlight>
            </a:endParaRPr>
          </a:p>
          <a:p>
            <a:pPr marL="342900" indent="-342900">
              <a:lnSpc>
                <a:spcPts val="1800"/>
              </a:lnSpc>
              <a:buFont typeface="+mj-lt"/>
              <a:buAutoNum type="arabicPeriod"/>
            </a:pPr>
            <a:r>
              <a:rPr lang="en-US" sz="1400" b="1" dirty="0">
                <a:solidFill>
                  <a:srgbClr val="0070C0"/>
                </a:solidFill>
              </a:rPr>
              <a:t>Place the Python code and dataset in Google Drive: </a:t>
            </a:r>
            <a:r>
              <a:rPr lang="en-US" sz="1400" dirty="0"/>
              <a:t>Ensure the downloaded files are stored in your Google Drive.</a:t>
            </a:r>
          </a:p>
          <a:p>
            <a:pPr marL="342900" indent="-342900">
              <a:lnSpc>
                <a:spcPts val="1800"/>
              </a:lnSpc>
              <a:buFont typeface="+mj-lt"/>
              <a:buAutoNum type="arabicPeriod"/>
            </a:pPr>
            <a:r>
              <a:rPr lang="en-US" sz="1400" b="1" dirty="0">
                <a:solidFill>
                  <a:srgbClr val="0070C0"/>
                </a:solidFill>
              </a:rPr>
              <a:t>Update the dataset path: </a:t>
            </a:r>
            <a:r>
              <a:rPr lang="en-US" sz="1400" dirty="0"/>
              <a:t>Accurately update the </a:t>
            </a:r>
            <a:r>
              <a:rPr lang="en-US" sz="1400" dirty="0" err="1"/>
              <a:t>data_path</a:t>
            </a:r>
            <a:r>
              <a:rPr lang="en-US" sz="1400" dirty="0"/>
              <a:t> variable in the code to point to the location of the dataset in your Google Drive.</a:t>
            </a:r>
          </a:p>
          <a:p>
            <a:pPr marL="342900" indent="-342900">
              <a:lnSpc>
                <a:spcPts val="1800"/>
              </a:lnSpc>
              <a:buFont typeface="+mj-lt"/>
              <a:buAutoNum type="arabicPeriod"/>
            </a:pPr>
            <a:r>
              <a:rPr lang="en-US" sz="1400" b="1" dirty="0">
                <a:solidFill>
                  <a:srgbClr val="0070C0"/>
                </a:solidFill>
              </a:rPr>
              <a:t>Run every step: </a:t>
            </a:r>
            <a:r>
              <a:rPr lang="en-US" sz="1400" dirty="0"/>
              <a:t>Execute each code cell sequentially to ensure the notebook runs as expected.</a:t>
            </a:r>
          </a:p>
        </p:txBody>
      </p:sp>
      <p:sp>
        <p:nvSpPr>
          <p:cNvPr id="16" name="TextBox 15">
            <a:extLst>
              <a:ext uri="{FF2B5EF4-FFF2-40B4-BE49-F238E27FC236}">
                <a16:creationId xmlns:a16="http://schemas.microsoft.com/office/drawing/2014/main" id="{DE689C47-667A-5C40-1D7F-B1F1594AA840}"/>
              </a:ext>
            </a:extLst>
          </p:cNvPr>
          <p:cNvSpPr txBox="1"/>
          <p:nvPr/>
        </p:nvSpPr>
        <p:spPr>
          <a:xfrm>
            <a:off x="-1" y="599746"/>
            <a:ext cx="8193741" cy="523220"/>
          </a:xfrm>
          <a:prstGeom prst="rect">
            <a:avLst/>
          </a:prstGeom>
          <a:noFill/>
        </p:spPr>
        <p:txBody>
          <a:bodyPr wrap="square">
            <a:spAutoFit/>
          </a:bodyPr>
          <a:lstStyle/>
          <a:p>
            <a:r>
              <a:rPr lang="en-US" sz="2800" b="1" dirty="0">
                <a:solidFill>
                  <a:schemeClr val="accent1">
                    <a:lumMod val="50000"/>
                  </a:schemeClr>
                </a:solidFill>
              </a:rPr>
              <a:t>Prerequisite:</a:t>
            </a:r>
            <a:endParaRPr lang="en-US" sz="2800" b="1" dirty="0">
              <a:solidFill>
                <a:srgbClr val="0070C0"/>
              </a:solidFill>
            </a:endParaRPr>
          </a:p>
        </p:txBody>
      </p:sp>
      <p:pic>
        <p:nvPicPr>
          <p:cNvPr id="7" name="Picture 6">
            <a:extLst>
              <a:ext uri="{FF2B5EF4-FFF2-40B4-BE49-F238E27FC236}">
                <a16:creationId xmlns:a16="http://schemas.microsoft.com/office/drawing/2014/main" id="{1EB6ED90-636A-9CE9-912A-57B7BE87E60F}"/>
              </a:ext>
            </a:extLst>
          </p:cNvPr>
          <p:cNvPicPr>
            <a:picLocks noChangeAspect="1"/>
          </p:cNvPicPr>
          <p:nvPr/>
        </p:nvPicPr>
        <p:blipFill>
          <a:blip r:embed="rId4"/>
          <a:stretch>
            <a:fillRect/>
          </a:stretch>
        </p:blipFill>
        <p:spPr>
          <a:xfrm>
            <a:off x="6862172" y="1028425"/>
            <a:ext cx="5250577" cy="3128712"/>
          </a:xfrm>
          <a:prstGeom prst="rect">
            <a:avLst/>
          </a:prstGeom>
        </p:spPr>
      </p:pic>
      <p:sp>
        <p:nvSpPr>
          <p:cNvPr id="8" name="TextBox 7">
            <a:extLst>
              <a:ext uri="{FF2B5EF4-FFF2-40B4-BE49-F238E27FC236}">
                <a16:creationId xmlns:a16="http://schemas.microsoft.com/office/drawing/2014/main" id="{1AFADDBF-9A18-77E0-6EBF-9A84140DB3C9}"/>
              </a:ext>
            </a:extLst>
          </p:cNvPr>
          <p:cNvSpPr txBox="1"/>
          <p:nvPr/>
        </p:nvSpPr>
        <p:spPr>
          <a:xfrm>
            <a:off x="79251" y="3687485"/>
            <a:ext cx="8193741" cy="523220"/>
          </a:xfrm>
          <a:prstGeom prst="rect">
            <a:avLst/>
          </a:prstGeom>
          <a:noFill/>
        </p:spPr>
        <p:txBody>
          <a:bodyPr wrap="square">
            <a:spAutoFit/>
          </a:bodyPr>
          <a:lstStyle/>
          <a:p>
            <a:r>
              <a:rPr lang="en-US" sz="2800" b="1" dirty="0">
                <a:solidFill>
                  <a:schemeClr val="accent1">
                    <a:lumMod val="50000"/>
                  </a:schemeClr>
                </a:solidFill>
              </a:rPr>
              <a:t>1. Mount Google Drive to access the dataset</a:t>
            </a:r>
            <a:endParaRPr lang="en-US" sz="2800" b="1" dirty="0">
              <a:solidFill>
                <a:srgbClr val="0070C0"/>
              </a:solidFill>
            </a:endParaRPr>
          </a:p>
        </p:txBody>
      </p:sp>
      <p:sp>
        <p:nvSpPr>
          <p:cNvPr id="10" name="TextBox 9">
            <a:extLst>
              <a:ext uri="{FF2B5EF4-FFF2-40B4-BE49-F238E27FC236}">
                <a16:creationId xmlns:a16="http://schemas.microsoft.com/office/drawing/2014/main" id="{FB6CBD0B-8BDE-E7B8-2728-EDE2AC067FAD}"/>
              </a:ext>
            </a:extLst>
          </p:cNvPr>
          <p:cNvSpPr txBox="1"/>
          <p:nvPr/>
        </p:nvSpPr>
        <p:spPr>
          <a:xfrm>
            <a:off x="219075" y="4373940"/>
            <a:ext cx="6172200" cy="1192121"/>
          </a:xfrm>
          <a:prstGeom prst="rect">
            <a:avLst/>
          </a:prstGeom>
          <a:noFill/>
        </p:spPr>
        <p:txBody>
          <a:bodyPr wrap="square">
            <a:spAutoFit/>
          </a:bodyPr>
          <a:lstStyle/>
          <a:p>
            <a:pPr marL="342900" indent="-342900">
              <a:buFont typeface="+mj-lt"/>
              <a:buAutoNum type="arabicPeriod"/>
            </a:pPr>
            <a:r>
              <a:rPr lang="en-US" sz="1400" b="0" dirty="0">
                <a:solidFill>
                  <a:schemeClr val="tx1">
                    <a:lumMod val="50000"/>
                  </a:schemeClr>
                </a:solidFill>
                <a:effectLst/>
                <a:latin typeface="Gill Sans Nova Light (Body)"/>
              </a:rPr>
              <a:t>Mount Google Drive at /content/drive</a:t>
            </a:r>
          </a:p>
          <a:p>
            <a:pPr marL="342900" indent="-342900">
              <a:buFont typeface="+mj-lt"/>
              <a:buAutoNum type="arabicPeriod"/>
            </a:pPr>
            <a:r>
              <a:rPr lang="en-US" sz="1400" b="0" dirty="0">
                <a:solidFill>
                  <a:schemeClr val="tx1">
                    <a:lumMod val="50000"/>
                  </a:schemeClr>
                </a:solidFill>
                <a:effectLst/>
                <a:latin typeface="Gill Sans Nova Light (Body)"/>
              </a:rPr>
              <a:t>Define the path to the dataset in your Google Drive</a:t>
            </a:r>
          </a:p>
          <a:p>
            <a:pPr marL="342900" indent="-342900">
              <a:buFont typeface="+mj-lt"/>
              <a:buAutoNum type="arabicPeriod"/>
            </a:pPr>
            <a:r>
              <a:rPr lang="en-US" sz="1400" b="0" dirty="0">
                <a:solidFill>
                  <a:schemeClr val="tx1">
                    <a:lumMod val="50000"/>
                  </a:schemeClr>
                </a:solidFill>
                <a:effectLst/>
                <a:latin typeface="Gill Sans Nova Light (Body)"/>
              </a:rPr>
              <a:t>Install required libraries using pip</a:t>
            </a:r>
          </a:p>
          <a:p>
            <a:pPr marL="342900" indent="-342900">
              <a:lnSpc>
                <a:spcPts val="1800"/>
              </a:lnSpc>
              <a:buFont typeface="+mj-lt"/>
              <a:buAutoNum type="arabicPeriod"/>
            </a:pPr>
            <a:r>
              <a:rPr lang="en-US" sz="1400" b="1" dirty="0">
                <a:solidFill>
                  <a:srgbClr val="0070C0"/>
                </a:solidFill>
              </a:rPr>
              <a:t>Outcome:</a:t>
            </a:r>
          </a:p>
          <a:p>
            <a:pPr marL="800100" lvl="1" indent="-342900">
              <a:lnSpc>
                <a:spcPts val="1800"/>
              </a:lnSpc>
              <a:buFont typeface="+mj-lt"/>
              <a:buAutoNum type="arabicPeriod"/>
            </a:pPr>
            <a:r>
              <a:rPr lang="en-US" sz="1400" dirty="0"/>
              <a:t>At this stage, the drive should be mounted &amp; dataset should be loaded</a:t>
            </a:r>
          </a:p>
        </p:txBody>
      </p:sp>
    </p:spTree>
    <p:extLst>
      <p:ext uri="{BB962C8B-B14F-4D97-AF65-F5344CB8AC3E}">
        <p14:creationId xmlns:p14="http://schemas.microsoft.com/office/powerpoint/2010/main" val="9166125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48F4A-BE13-C3E6-32F7-B095A4EA8C83}"/>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49F45A13-8195-F35E-C4F0-D3E58E5E4A5B}"/>
              </a:ext>
            </a:extLst>
          </p:cNvPr>
          <p:cNvSpPr>
            <a:spLocks noGrp="1"/>
          </p:cNvSpPr>
          <p:nvPr>
            <p:ph type="title"/>
          </p:nvPr>
        </p:nvSpPr>
        <p:spPr>
          <a:xfrm>
            <a:off x="0" y="0"/>
            <a:ext cx="8982635" cy="510988"/>
          </a:xfrm>
        </p:spPr>
        <p:txBody>
          <a:bodyPr/>
          <a:lstStyle/>
          <a:p>
            <a:r>
              <a:rPr lang="en-US" dirty="0">
                <a:solidFill>
                  <a:srgbClr val="002060"/>
                </a:solidFill>
              </a:rPr>
              <a:t>SLA </a:t>
            </a:r>
            <a:r>
              <a:rPr lang="en-US" sz="3200" dirty="0">
                <a:solidFill>
                  <a:srgbClr val="002060"/>
                </a:solidFill>
              </a:rPr>
              <a:t>Assignment</a:t>
            </a:r>
            <a:endParaRPr lang="en-US" dirty="0">
              <a:solidFill>
                <a:srgbClr val="002060"/>
              </a:solidFill>
            </a:endParaRPr>
          </a:p>
        </p:txBody>
      </p:sp>
      <p:sp>
        <p:nvSpPr>
          <p:cNvPr id="2" name="Slide Number Placeholder 1">
            <a:extLst>
              <a:ext uri="{FF2B5EF4-FFF2-40B4-BE49-F238E27FC236}">
                <a16:creationId xmlns:a16="http://schemas.microsoft.com/office/drawing/2014/main" id="{45E79705-DF96-E727-BA97-90E4BF35EE0A}"/>
              </a:ext>
            </a:extLst>
          </p:cNvPr>
          <p:cNvSpPr>
            <a:spLocks noGrp="1"/>
          </p:cNvSpPr>
          <p:nvPr>
            <p:ph type="sldNum" sz="quarter" idx="4"/>
          </p:nvPr>
        </p:nvSpPr>
        <p:spPr>
          <a:xfrm>
            <a:off x="11842382" y="6571131"/>
            <a:ext cx="352134" cy="258362"/>
          </a:xfrm>
        </p:spPr>
        <p:txBody>
          <a:bodyPr/>
          <a:lstStyle/>
          <a:p>
            <a:fld id="{58FB4751-880F-D840-AAA9-3A15815CC996}" type="slidenum">
              <a:rPr lang="en-US" sz="1200" smtClean="0"/>
              <a:pPr/>
              <a:t>5</a:t>
            </a:fld>
            <a:endParaRPr lang="en-US" sz="1200" dirty="0"/>
          </a:p>
        </p:txBody>
      </p:sp>
      <p:sp>
        <p:nvSpPr>
          <p:cNvPr id="16" name="TextBox 15">
            <a:extLst>
              <a:ext uri="{FF2B5EF4-FFF2-40B4-BE49-F238E27FC236}">
                <a16:creationId xmlns:a16="http://schemas.microsoft.com/office/drawing/2014/main" id="{9AC0ED5A-2BF8-355F-CE75-586E620FC031}"/>
              </a:ext>
            </a:extLst>
          </p:cNvPr>
          <p:cNvSpPr txBox="1"/>
          <p:nvPr/>
        </p:nvSpPr>
        <p:spPr>
          <a:xfrm>
            <a:off x="-1" y="599746"/>
            <a:ext cx="8193741" cy="523220"/>
          </a:xfrm>
          <a:prstGeom prst="rect">
            <a:avLst/>
          </a:prstGeom>
          <a:noFill/>
        </p:spPr>
        <p:txBody>
          <a:bodyPr wrap="square">
            <a:spAutoFit/>
          </a:bodyPr>
          <a:lstStyle/>
          <a:p>
            <a:r>
              <a:rPr lang="en-US" sz="2800" b="1" dirty="0">
                <a:solidFill>
                  <a:schemeClr val="accent1">
                    <a:lumMod val="50000"/>
                  </a:schemeClr>
                </a:solidFill>
              </a:rPr>
              <a:t>2. Dataset Overview</a:t>
            </a:r>
            <a:endParaRPr lang="en-US" sz="2800" b="1" dirty="0">
              <a:solidFill>
                <a:srgbClr val="0070C0"/>
              </a:solidFill>
            </a:endParaRPr>
          </a:p>
        </p:txBody>
      </p:sp>
      <p:sp>
        <p:nvSpPr>
          <p:cNvPr id="6" name="Rectangle 3">
            <a:extLst>
              <a:ext uri="{FF2B5EF4-FFF2-40B4-BE49-F238E27FC236}">
                <a16:creationId xmlns:a16="http://schemas.microsoft.com/office/drawing/2014/main" id="{7953A613-C095-4C8D-A76D-2176E61A4F3D}"/>
              </a:ext>
            </a:extLst>
          </p:cNvPr>
          <p:cNvSpPr>
            <a:spLocks noChangeArrowheads="1"/>
          </p:cNvSpPr>
          <p:nvPr/>
        </p:nvSpPr>
        <p:spPr bwMode="auto">
          <a:xfrm>
            <a:off x="152934" y="1152924"/>
            <a:ext cx="6409791"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solidFill>
                <a:effectLst/>
                <a:latin typeface="Gill Sans Nova Light (Body)"/>
              </a:rPr>
              <a:t>Step-by-Step Breakdown</a:t>
            </a:r>
            <a:r>
              <a:rPr kumimoji="0" lang="en-US" altLang="en-US" sz="1400" b="0" i="0" u="none" strike="noStrike" cap="none" normalizeH="0" baseline="0" dirty="0">
                <a:ln>
                  <a:noFill/>
                </a:ln>
                <a:solidFill>
                  <a:schemeClr val="tx1"/>
                </a:solidFill>
                <a:effectLst/>
                <a:latin typeface="Gill Sans Nova Light (Body)"/>
              </a:rPr>
              <a:t>:</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Gill Sans Nova Light (Body)"/>
              </a:rPr>
              <a:t>Header Print</a:t>
            </a:r>
            <a:r>
              <a:rPr kumimoji="0" lang="en-US" altLang="en-US" sz="1400" b="0" i="0" u="none" strike="noStrike" cap="none" normalizeH="0" baseline="0" dirty="0">
                <a:ln>
                  <a:noFill/>
                </a:ln>
                <a:solidFill>
                  <a:schemeClr val="tx1"/>
                </a:solidFill>
                <a:effectLst/>
                <a:latin typeface="Gill Sans Nova Light (Body)"/>
              </a:rPr>
              <a:t>: Clearly labels the section for readability.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Gill Sans Nova Light (Body)"/>
              </a:rPr>
              <a:t>Shape Check</a:t>
            </a:r>
            <a:r>
              <a:rPr kumimoji="0" lang="en-US" altLang="en-US" sz="1400" b="0" i="0" u="none" strike="noStrike" cap="none" normalizeH="0" baseline="0" dirty="0">
                <a:ln>
                  <a:noFill/>
                </a:ln>
                <a:solidFill>
                  <a:schemeClr val="tx1"/>
                </a:solidFill>
                <a:effectLst/>
                <a:latin typeface="Gill Sans Nova Light (Body)"/>
              </a:rPr>
              <a:t>: Displays the number of rows and columns to assess dataset size.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Gill Sans Nova Light (Body)"/>
              </a:rPr>
              <a:t>Info Summary</a:t>
            </a:r>
            <a:r>
              <a:rPr kumimoji="0" lang="en-US" altLang="en-US" sz="1400" b="0" i="0" u="none" strike="noStrike" cap="none" normalizeH="0" baseline="0" dirty="0">
                <a:ln>
                  <a:noFill/>
                </a:ln>
                <a:solidFill>
                  <a:schemeClr val="tx1"/>
                </a:solidFill>
                <a:effectLst/>
                <a:latin typeface="Gill Sans Nova Light (Body)"/>
              </a:rPr>
              <a:t>: Reveals column names, data types, and missing values to identify potential data quality issues.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Gill Sans Nova Light (Body)"/>
              </a:rPr>
              <a:t>Head Preview</a:t>
            </a:r>
            <a:r>
              <a:rPr kumimoji="0" lang="en-US" altLang="en-US" sz="1400" b="0" i="0" u="none" strike="noStrike" cap="none" normalizeH="0" baseline="0" dirty="0">
                <a:ln>
                  <a:noFill/>
                </a:ln>
                <a:solidFill>
                  <a:schemeClr val="tx1"/>
                </a:solidFill>
                <a:effectLst/>
                <a:latin typeface="Gill Sans Nova Light (Body)"/>
              </a:rPr>
              <a:t>: Shows the first few rows to get a sense of the actual data values and formats.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Gill Sans Nova Light (Body)"/>
              </a:rPr>
              <a:t>Why It’s Useful</a:t>
            </a:r>
            <a:r>
              <a:rPr kumimoji="0" lang="en-US" altLang="en-US" sz="1400" b="0" i="0" u="none" strike="noStrike" cap="none" normalizeH="0" baseline="0" dirty="0">
                <a:ln>
                  <a:noFill/>
                </a:ln>
                <a:solidFill>
                  <a:schemeClr val="tx1"/>
                </a:solidFill>
                <a:effectLst/>
                <a:latin typeface="Gill Sans Nova Light (Body)"/>
              </a:rPr>
              <a:t>:</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Gill Sans Nova Light (Body)"/>
              </a:rPr>
              <a:t>Helps in </a:t>
            </a:r>
            <a:r>
              <a:rPr kumimoji="0" lang="en-US" altLang="en-US" sz="1400" b="1" i="0" u="none" strike="noStrike" cap="none" normalizeH="0" baseline="0" dirty="0">
                <a:ln>
                  <a:noFill/>
                </a:ln>
                <a:solidFill>
                  <a:schemeClr val="tx1"/>
                </a:solidFill>
                <a:effectLst/>
                <a:latin typeface="Gill Sans Nova Light (Body)"/>
              </a:rPr>
              <a:t>validating data ingestion</a:t>
            </a:r>
            <a:r>
              <a:rPr kumimoji="0" lang="en-US" altLang="en-US" sz="1400" b="0" i="0" u="none" strike="noStrike" cap="none" normalizeH="0" baseline="0" dirty="0">
                <a:ln>
                  <a:noFill/>
                </a:ln>
                <a:solidFill>
                  <a:schemeClr val="tx1"/>
                </a:solidFill>
                <a:effectLst/>
                <a:latin typeface="Gill Sans Nova Light (Body)"/>
              </a:rPr>
              <a:t>.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Gill Sans Nova Light (Body)"/>
              </a:rPr>
              <a:t>Aids in </a:t>
            </a:r>
            <a:r>
              <a:rPr kumimoji="0" lang="en-US" altLang="en-US" sz="1400" b="1" i="0" u="none" strike="noStrike" cap="none" normalizeH="0" baseline="0" dirty="0">
                <a:ln>
                  <a:noFill/>
                </a:ln>
                <a:solidFill>
                  <a:schemeClr val="tx1"/>
                </a:solidFill>
                <a:effectLst/>
                <a:latin typeface="Gill Sans Nova Light (Body)"/>
              </a:rPr>
              <a:t>identifying data types</a:t>
            </a:r>
            <a:r>
              <a:rPr kumimoji="0" lang="en-US" altLang="en-US" sz="1400" b="0" i="0" u="none" strike="noStrike" cap="none" normalizeH="0" baseline="0" dirty="0">
                <a:ln>
                  <a:noFill/>
                </a:ln>
                <a:solidFill>
                  <a:schemeClr val="tx1"/>
                </a:solidFill>
                <a:effectLst/>
                <a:latin typeface="Gill Sans Nova Light (Body)"/>
              </a:rPr>
              <a:t> for preprocessing.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Gill Sans Nova Light (Body)"/>
              </a:rPr>
              <a:t>Useful for </a:t>
            </a:r>
            <a:r>
              <a:rPr kumimoji="0" lang="en-US" altLang="en-US" sz="1400" b="1" i="0" u="none" strike="noStrike" cap="none" normalizeH="0" baseline="0" dirty="0">
                <a:ln>
                  <a:noFill/>
                </a:ln>
                <a:solidFill>
                  <a:schemeClr val="tx1"/>
                </a:solidFill>
                <a:effectLst/>
                <a:latin typeface="Gill Sans Nova Light (Body)"/>
              </a:rPr>
              <a:t>spot-checking anomalies</a:t>
            </a:r>
            <a:r>
              <a:rPr kumimoji="0" lang="en-US" altLang="en-US" sz="1400" b="0" i="0" u="none" strike="noStrike" cap="none" normalizeH="0" baseline="0" dirty="0">
                <a:ln>
                  <a:noFill/>
                </a:ln>
                <a:solidFill>
                  <a:schemeClr val="tx1"/>
                </a:solidFill>
                <a:effectLst/>
                <a:latin typeface="Gill Sans Nova Light (Body)"/>
              </a:rPr>
              <a:t> or unexpected values early.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Gill Sans Nova Light (Body)"/>
              </a:rPr>
              <a:t>Best Practices Highlighted</a:t>
            </a:r>
            <a:r>
              <a:rPr kumimoji="0" lang="en-US" altLang="en-US" sz="1400" b="0" i="0" u="none" strike="noStrike" cap="none" normalizeH="0" baseline="0" dirty="0">
                <a:ln>
                  <a:noFill/>
                </a:ln>
                <a:solidFill>
                  <a:schemeClr val="tx1"/>
                </a:solidFill>
                <a:effectLst/>
                <a:latin typeface="Gill Sans Nova Light (Body)"/>
              </a:rPr>
              <a:t>:</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Gill Sans Nova Light (Body)"/>
              </a:rPr>
              <a:t>Using display() ensures better formatting in notebooks (e.g., </a:t>
            </a:r>
            <a:r>
              <a:rPr kumimoji="0" lang="en-US" altLang="en-US" sz="1400" b="0" i="0" u="none" strike="noStrike" cap="none" normalizeH="0" baseline="0" dirty="0" err="1">
                <a:ln>
                  <a:noFill/>
                </a:ln>
                <a:solidFill>
                  <a:schemeClr val="tx1"/>
                </a:solidFill>
                <a:effectLst/>
                <a:latin typeface="Gill Sans Nova Light (Body)"/>
              </a:rPr>
              <a:t>Jupyter</a:t>
            </a:r>
            <a:r>
              <a:rPr kumimoji="0" lang="en-US" altLang="en-US" sz="1400" b="0" i="0" u="none" strike="noStrike" cap="none" normalizeH="0" baseline="0" dirty="0">
                <a:ln>
                  <a:noFill/>
                </a:ln>
                <a:solidFill>
                  <a:schemeClr val="tx1"/>
                </a:solidFill>
                <a:effectLst/>
                <a:latin typeface="Gill Sans Nova Light (Body)"/>
              </a:rPr>
              <a:t>).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Gill Sans Nova Light (Body)"/>
              </a:rPr>
              <a:t>Keeping the overview concise and readable improves collaboration and debugging.</a:t>
            </a: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Gill Sans Nova Light (Body)"/>
            </a:endParaRPr>
          </a:p>
        </p:txBody>
      </p:sp>
      <p:pic>
        <p:nvPicPr>
          <p:cNvPr id="9" name="Picture 8">
            <a:extLst>
              <a:ext uri="{FF2B5EF4-FFF2-40B4-BE49-F238E27FC236}">
                <a16:creationId xmlns:a16="http://schemas.microsoft.com/office/drawing/2014/main" id="{99633EB6-7A3B-23BC-0583-3C29DBD83573}"/>
              </a:ext>
            </a:extLst>
          </p:cNvPr>
          <p:cNvPicPr>
            <a:picLocks noChangeAspect="1"/>
          </p:cNvPicPr>
          <p:nvPr/>
        </p:nvPicPr>
        <p:blipFill>
          <a:blip r:embed="rId3"/>
          <a:stretch>
            <a:fillRect/>
          </a:stretch>
        </p:blipFill>
        <p:spPr>
          <a:xfrm>
            <a:off x="6630486" y="411854"/>
            <a:ext cx="5408580" cy="3631228"/>
          </a:xfrm>
          <a:prstGeom prst="rect">
            <a:avLst/>
          </a:prstGeom>
        </p:spPr>
      </p:pic>
      <p:pic>
        <p:nvPicPr>
          <p:cNvPr id="12" name="Picture 11">
            <a:extLst>
              <a:ext uri="{FF2B5EF4-FFF2-40B4-BE49-F238E27FC236}">
                <a16:creationId xmlns:a16="http://schemas.microsoft.com/office/drawing/2014/main" id="{697C125B-101B-C693-9212-E05B77C55503}"/>
              </a:ext>
            </a:extLst>
          </p:cNvPr>
          <p:cNvPicPr>
            <a:picLocks noChangeAspect="1"/>
          </p:cNvPicPr>
          <p:nvPr/>
        </p:nvPicPr>
        <p:blipFill>
          <a:blip r:embed="rId4"/>
          <a:stretch>
            <a:fillRect/>
          </a:stretch>
        </p:blipFill>
        <p:spPr>
          <a:xfrm>
            <a:off x="6630486" y="4043082"/>
            <a:ext cx="5408580" cy="947008"/>
          </a:xfrm>
          <a:prstGeom prst="rect">
            <a:avLst/>
          </a:prstGeom>
        </p:spPr>
      </p:pic>
    </p:spTree>
    <p:extLst>
      <p:ext uri="{BB962C8B-B14F-4D97-AF65-F5344CB8AC3E}">
        <p14:creationId xmlns:p14="http://schemas.microsoft.com/office/powerpoint/2010/main" val="2863426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914F2-6BC0-00CA-2805-91F9DE4C5087}"/>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CEBA9358-91A2-9652-4357-57DE61ED81F3}"/>
              </a:ext>
            </a:extLst>
          </p:cNvPr>
          <p:cNvSpPr>
            <a:spLocks noGrp="1"/>
          </p:cNvSpPr>
          <p:nvPr>
            <p:ph type="title"/>
          </p:nvPr>
        </p:nvSpPr>
        <p:spPr>
          <a:xfrm>
            <a:off x="0" y="0"/>
            <a:ext cx="8982635" cy="510988"/>
          </a:xfrm>
        </p:spPr>
        <p:txBody>
          <a:bodyPr/>
          <a:lstStyle/>
          <a:p>
            <a:r>
              <a:rPr lang="en-US" dirty="0">
                <a:solidFill>
                  <a:srgbClr val="002060"/>
                </a:solidFill>
              </a:rPr>
              <a:t>SLA </a:t>
            </a:r>
            <a:r>
              <a:rPr lang="en-US" sz="3200" dirty="0">
                <a:solidFill>
                  <a:srgbClr val="002060"/>
                </a:solidFill>
              </a:rPr>
              <a:t>Assignment</a:t>
            </a:r>
            <a:endParaRPr lang="en-US" dirty="0">
              <a:solidFill>
                <a:srgbClr val="002060"/>
              </a:solidFill>
            </a:endParaRPr>
          </a:p>
        </p:txBody>
      </p:sp>
      <p:sp>
        <p:nvSpPr>
          <p:cNvPr id="2" name="Slide Number Placeholder 1">
            <a:extLst>
              <a:ext uri="{FF2B5EF4-FFF2-40B4-BE49-F238E27FC236}">
                <a16:creationId xmlns:a16="http://schemas.microsoft.com/office/drawing/2014/main" id="{DEDF2D2B-00E6-453F-E785-BB424AF12872}"/>
              </a:ext>
            </a:extLst>
          </p:cNvPr>
          <p:cNvSpPr>
            <a:spLocks noGrp="1"/>
          </p:cNvSpPr>
          <p:nvPr>
            <p:ph type="sldNum" sz="quarter" idx="4"/>
          </p:nvPr>
        </p:nvSpPr>
        <p:spPr>
          <a:xfrm>
            <a:off x="11842382" y="6571131"/>
            <a:ext cx="352134" cy="258362"/>
          </a:xfrm>
        </p:spPr>
        <p:txBody>
          <a:bodyPr/>
          <a:lstStyle/>
          <a:p>
            <a:fld id="{58FB4751-880F-D840-AAA9-3A15815CC996}" type="slidenum">
              <a:rPr lang="en-US" sz="1200" smtClean="0"/>
              <a:pPr/>
              <a:t>6</a:t>
            </a:fld>
            <a:endParaRPr lang="en-US" sz="1200" dirty="0"/>
          </a:p>
        </p:txBody>
      </p:sp>
      <p:sp>
        <p:nvSpPr>
          <p:cNvPr id="16" name="TextBox 15">
            <a:extLst>
              <a:ext uri="{FF2B5EF4-FFF2-40B4-BE49-F238E27FC236}">
                <a16:creationId xmlns:a16="http://schemas.microsoft.com/office/drawing/2014/main" id="{12C1CE86-5D42-9250-063F-8764B6CAD650}"/>
              </a:ext>
            </a:extLst>
          </p:cNvPr>
          <p:cNvSpPr txBox="1"/>
          <p:nvPr/>
        </p:nvSpPr>
        <p:spPr>
          <a:xfrm>
            <a:off x="0" y="1028343"/>
            <a:ext cx="7449672" cy="3539430"/>
          </a:xfrm>
          <a:prstGeom prst="rect">
            <a:avLst/>
          </a:prstGeom>
          <a:noFill/>
        </p:spPr>
        <p:txBody>
          <a:bodyPr wrap="square">
            <a:spAutoFit/>
          </a:bodyPr>
          <a:lstStyle/>
          <a:p>
            <a:endParaRPr lang="en-US" sz="1400" dirty="0"/>
          </a:p>
          <a:p>
            <a:r>
              <a:rPr lang="en-US" sz="1400" dirty="0"/>
              <a:t>Below are the key outcomes and benefits of performing this EDA:</a:t>
            </a:r>
          </a:p>
          <a:p>
            <a:endParaRPr lang="en-US" sz="1400" dirty="0"/>
          </a:p>
          <a:p>
            <a:pPr marL="342900" indent="-342900">
              <a:buFont typeface="+mj-lt"/>
              <a:buAutoNum type="arabicPeriod"/>
            </a:pPr>
            <a:r>
              <a:rPr lang="en-US" sz="1400" b="1" dirty="0"/>
              <a:t>Understand Data Quality:</a:t>
            </a:r>
            <a:r>
              <a:rPr lang="en-US" sz="1400" dirty="0"/>
              <a:t> Identify missing values, inconsistencies, and potential errors in the datasets. This step is crucial for knowing which columns require cleaning or imputation before further analysis or modeling.</a:t>
            </a:r>
          </a:p>
          <a:p>
            <a:pPr marL="342900" indent="-342900">
              <a:buFont typeface="+mj-lt"/>
              <a:buAutoNum type="arabicPeriod"/>
            </a:pPr>
            <a:r>
              <a:rPr lang="en-US" sz="1400" b="1" dirty="0"/>
              <a:t>Feature Selection</a:t>
            </a:r>
            <a:r>
              <a:rPr lang="en-US" sz="1400" dirty="0"/>
              <a:t>: Get an initial sense of which features (columns) might be most relevant for the task at hand (e.g., predicting hospital occupancy). Visualizations and summary statistics can highlight important variables.</a:t>
            </a:r>
          </a:p>
          <a:p>
            <a:pPr marL="342900" indent="-342900">
              <a:buFont typeface="+mj-lt"/>
              <a:buAutoNum type="arabicPeriod"/>
            </a:pPr>
            <a:endParaRPr lang="en-US" sz="1400" dirty="0"/>
          </a:p>
          <a:p>
            <a:pPr marL="342900" indent="-342900">
              <a:buFont typeface="+mj-lt"/>
              <a:buAutoNum type="arabicPeriod"/>
            </a:pPr>
            <a:r>
              <a:rPr lang="en-US" sz="1400" b="1" dirty="0"/>
              <a:t>Identify Areas for Data Cleaning</a:t>
            </a:r>
            <a:r>
              <a:rPr lang="en-US" sz="1400" dirty="0"/>
              <a:t>: Based on the data quality assessment, determine specific steps needed to handle missing data (e.g., imputation, dropping rows/columns) or correct incorrect data formats or values.</a:t>
            </a:r>
          </a:p>
          <a:p>
            <a:pPr marL="342900" indent="-342900">
              <a:buFont typeface="+mj-lt"/>
              <a:buAutoNum type="arabicPeriod"/>
            </a:pPr>
            <a:r>
              <a:rPr lang="en-US" sz="1400" b="1" dirty="0">
                <a:solidFill>
                  <a:srgbClr val="00B0F0"/>
                </a:solidFill>
              </a:rPr>
              <a:t>Insights for Modeling:</a:t>
            </a:r>
            <a:r>
              <a:rPr lang="en-US" sz="1400" dirty="0">
                <a:solidFill>
                  <a:srgbClr val="00B0F0"/>
                </a:solidFill>
              </a:rPr>
              <a:t> </a:t>
            </a:r>
            <a:r>
              <a:rPr lang="en-US" sz="1400" dirty="0"/>
              <a:t>Discover patterns, trends, and distributions within the data through visualizations. For time-series data like ward occupancy, visual patterns (e.g., seasonality, skewness) can guide feature engineering (e.g., adding lag features, rolling statistics) and model selection.</a:t>
            </a:r>
          </a:p>
        </p:txBody>
      </p:sp>
      <p:pic>
        <p:nvPicPr>
          <p:cNvPr id="8" name="Picture 7">
            <a:extLst>
              <a:ext uri="{FF2B5EF4-FFF2-40B4-BE49-F238E27FC236}">
                <a16:creationId xmlns:a16="http://schemas.microsoft.com/office/drawing/2014/main" id="{552131A7-E647-B426-81B0-1E378EF80DF4}"/>
              </a:ext>
            </a:extLst>
          </p:cNvPr>
          <p:cNvPicPr>
            <a:picLocks noChangeAspect="1"/>
          </p:cNvPicPr>
          <p:nvPr/>
        </p:nvPicPr>
        <p:blipFill>
          <a:blip r:embed="rId3"/>
          <a:stretch>
            <a:fillRect/>
          </a:stretch>
        </p:blipFill>
        <p:spPr>
          <a:xfrm>
            <a:off x="7833612" y="510988"/>
            <a:ext cx="3614318" cy="5078313"/>
          </a:xfrm>
          <a:prstGeom prst="rect">
            <a:avLst/>
          </a:prstGeom>
        </p:spPr>
      </p:pic>
      <p:sp>
        <p:nvSpPr>
          <p:cNvPr id="9" name="TextBox 8">
            <a:extLst>
              <a:ext uri="{FF2B5EF4-FFF2-40B4-BE49-F238E27FC236}">
                <a16:creationId xmlns:a16="http://schemas.microsoft.com/office/drawing/2014/main" id="{78CA6754-DBEF-71E9-C474-193D6FEDFD1D}"/>
              </a:ext>
            </a:extLst>
          </p:cNvPr>
          <p:cNvSpPr txBox="1"/>
          <p:nvPr/>
        </p:nvSpPr>
        <p:spPr>
          <a:xfrm>
            <a:off x="-1" y="599746"/>
            <a:ext cx="8193741" cy="523220"/>
          </a:xfrm>
          <a:prstGeom prst="rect">
            <a:avLst/>
          </a:prstGeom>
          <a:noFill/>
        </p:spPr>
        <p:txBody>
          <a:bodyPr wrap="square">
            <a:spAutoFit/>
          </a:bodyPr>
          <a:lstStyle/>
          <a:p>
            <a:r>
              <a:rPr lang="en-US" sz="2800" b="1" dirty="0">
                <a:solidFill>
                  <a:schemeClr val="accent1">
                    <a:lumMod val="50000"/>
                  </a:schemeClr>
                </a:solidFill>
              </a:rPr>
              <a:t>Step 3: Exploratory Data Analysis (</a:t>
            </a:r>
            <a:r>
              <a:rPr lang="en-US" sz="2800" dirty="0"/>
              <a:t>transfers table)</a:t>
            </a:r>
          </a:p>
        </p:txBody>
      </p:sp>
    </p:spTree>
    <p:extLst>
      <p:ext uri="{BB962C8B-B14F-4D97-AF65-F5344CB8AC3E}">
        <p14:creationId xmlns:p14="http://schemas.microsoft.com/office/powerpoint/2010/main" val="34284116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7A8AD-F128-517E-17F0-2C8103585FA7}"/>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227E62FA-A403-A80A-7DB9-9DECD6D62EC3}"/>
              </a:ext>
            </a:extLst>
          </p:cNvPr>
          <p:cNvSpPr>
            <a:spLocks noGrp="1"/>
          </p:cNvSpPr>
          <p:nvPr>
            <p:ph type="title"/>
          </p:nvPr>
        </p:nvSpPr>
        <p:spPr>
          <a:xfrm>
            <a:off x="0" y="0"/>
            <a:ext cx="8982635" cy="510988"/>
          </a:xfrm>
        </p:spPr>
        <p:txBody>
          <a:bodyPr/>
          <a:lstStyle/>
          <a:p>
            <a:r>
              <a:rPr lang="en-US" dirty="0">
                <a:solidFill>
                  <a:srgbClr val="002060"/>
                </a:solidFill>
              </a:rPr>
              <a:t>SLA </a:t>
            </a:r>
            <a:r>
              <a:rPr lang="en-US" sz="3200" dirty="0">
                <a:solidFill>
                  <a:srgbClr val="002060"/>
                </a:solidFill>
              </a:rPr>
              <a:t>Assignment</a:t>
            </a:r>
            <a:endParaRPr lang="en-US" dirty="0">
              <a:solidFill>
                <a:srgbClr val="002060"/>
              </a:solidFill>
            </a:endParaRPr>
          </a:p>
        </p:txBody>
      </p:sp>
      <p:sp>
        <p:nvSpPr>
          <p:cNvPr id="2" name="Slide Number Placeholder 1">
            <a:extLst>
              <a:ext uri="{FF2B5EF4-FFF2-40B4-BE49-F238E27FC236}">
                <a16:creationId xmlns:a16="http://schemas.microsoft.com/office/drawing/2014/main" id="{A2564434-797E-47F3-4AB2-9704D787A98D}"/>
              </a:ext>
            </a:extLst>
          </p:cNvPr>
          <p:cNvSpPr>
            <a:spLocks noGrp="1"/>
          </p:cNvSpPr>
          <p:nvPr>
            <p:ph type="sldNum" sz="quarter" idx="4"/>
          </p:nvPr>
        </p:nvSpPr>
        <p:spPr>
          <a:xfrm>
            <a:off x="11842382" y="6571131"/>
            <a:ext cx="352134" cy="258362"/>
          </a:xfrm>
        </p:spPr>
        <p:txBody>
          <a:bodyPr/>
          <a:lstStyle/>
          <a:p>
            <a:fld id="{58FB4751-880F-D840-AAA9-3A15815CC996}" type="slidenum">
              <a:rPr lang="en-US" sz="1200" smtClean="0"/>
              <a:pPr/>
              <a:t>7</a:t>
            </a:fld>
            <a:endParaRPr lang="en-US" sz="1200" dirty="0"/>
          </a:p>
        </p:txBody>
      </p:sp>
      <p:sp>
        <p:nvSpPr>
          <p:cNvPr id="16" name="TextBox 15">
            <a:extLst>
              <a:ext uri="{FF2B5EF4-FFF2-40B4-BE49-F238E27FC236}">
                <a16:creationId xmlns:a16="http://schemas.microsoft.com/office/drawing/2014/main" id="{68DDAA39-9A3F-98D2-AE98-D707B4F7B1AE}"/>
              </a:ext>
            </a:extLst>
          </p:cNvPr>
          <p:cNvSpPr txBox="1"/>
          <p:nvPr/>
        </p:nvSpPr>
        <p:spPr>
          <a:xfrm>
            <a:off x="-1" y="1288320"/>
            <a:ext cx="6884895" cy="3323987"/>
          </a:xfrm>
          <a:prstGeom prst="rect">
            <a:avLst/>
          </a:prstGeom>
          <a:noFill/>
        </p:spPr>
        <p:txBody>
          <a:bodyPr wrap="square">
            <a:spAutoFit/>
          </a:bodyPr>
          <a:lstStyle/>
          <a:p>
            <a:r>
              <a:rPr lang="en-US" sz="1400" dirty="0"/>
              <a:t>It helps us understand how key categorical fields are distributed in the transfer dataset. It’s a way to profile the data and spot patterns or irregularities.</a:t>
            </a:r>
          </a:p>
          <a:p>
            <a:endParaRPr lang="en-US" sz="1400" dirty="0"/>
          </a:p>
          <a:p>
            <a:r>
              <a:rPr lang="en-US" sz="1400" b="1" dirty="0"/>
              <a:t>What It Analyzes:</a:t>
            </a:r>
          </a:p>
          <a:p>
            <a:endParaRPr lang="en-US" sz="1400" dirty="0"/>
          </a:p>
          <a:p>
            <a:r>
              <a:rPr lang="en-US" sz="1400" dirty="0"/>
              <a:t>DBSOURCE: Identifies the source systems contributing data.</a:t>
            </a:r>
          </a:p>
          <a:p>
            <a:r>
              <a:rPr lang="en-US" sz="1400" dirty="0"/>
              <a:t>EVENTTYPE: Shows the types of transfer events recorded.</a:t>
            </a:r>
          </a:p>
          <a:p>
            <a:r>
              <a:rPr lang="en-US" sz="1400" dirty="0"/>
              <a:t>PREV_CAREUNIT: Indicates the care unit a patient was transferred from.</a:t>
            </a:r>
          </a:p>
          <a:p>
            <a:r>
              <a:rPr lang="en-US" sz="1400" dirty="0"/>
              <a:t>CURR_CAREUNIT: Indicates the care unit a patient was transferred to.</a:t>
            </a:r>
          </a:p>
          <a:p>
            <a:endParaRPr lang="en-US" sz="1400" dirty="0"/>
          </a:p>
          <a:p>
            <a:r>
              <a:rPr lang="en-US" sz="1400" b="1" dirty="0"/>
              <a:t>Why It’s Important:</a:t>
            </a:r>
          </a:p>
          <a:p>
            <a:endParaRPr lang="en-US" sz="1400" dirty="0"/>
          </a:p>
          <a:p>
            <a:r>
              <a:rPr lang="en-US" sz="1400" dirty="0"/>
              <a:t>Helps us understand operational flow within the care units.</a:t>
            </a:r>
          </a:p>
          <a:p>
            <a:r>
              <a:rPr lang="en-US" sz="1400" dirty="0"/>
              <a:t>Reveals dominant sources and event types, which may influence system design or reporting.</a:t>
            </a:r>
          </a:p>
          <a:p>
            <a:r>
              <a:rPr lang="en-US" sz="1400" dirty="0"/>
              <a:t>Identifies imbalances or missing values that could affect analysis or decision-making.</a:t>
            </a:r>
          </a:p>
        </p:txBody>
      </p:sp>
      <p:sp>
        <p:nvSpPr>
          <p:cNvPr id="9" name="TextBox 8">
            <a:extLst>
              <a:ext uri="{FF2B5EF4-FFF2-40B4-BE49-F238E27FC236}">
                <a16:creationId xmlns:a16="http://schemas.microsoft.com/office/drawing/2014/main" id="{446364D3-AD31-843D-21DA-700E9B554C8F}"/>
              </a:ext>
            </a:extLst>
          </p:cNvPr>
          <p:cNvSpPr txBox="1"/>
          <p:nvPr/>
        </p:nvSpPr>
        <p:spPr>
          <a:xfrm>
            <a:off x="-1" y="599746"/>
            <a:ext cx="8193741" cy="523220"/>
          </a:xfrm>
          <a:prstGeom prst="rect">
            <a:avLst/>
          </a:prstGeom>
          <a:noFill/>
        </p:spPr>
        <p:txBody>
          <a:bodyPr wrap="square">
            <a:spAutoFit/>
          </a:bodyPr>
          <a:lstStyle/>
          <a:p>
            <a:r>
              <a:rPr lang="en-US" sz="2800" b="1" dirty="0">
                <a:solidFill>
                  <a:schemeClr val="accent1">
                    <a:lumMod val="50000"/>
                  </a:schemeClr>
                </a:solidFill>
              </a:rPr>
              <a:t>Step 3: Exploratory Data Analysis (</a:t>
            </a:r>
            <a:r>
              <a:rPr lang="en-US" sz="2800" dirty="0"/>
              <a:t>transfers table) (Cont.)</a:t>
            </a:r>
          </a:p>
        </p:txBody>
      </p:sp>
      <p:pic>
        <p:nvPicPr>
          <p:cNvPr id="5" name="Picture 4">
            <a:extLst>
              <a:ext uri="{FF2B5EF4-FFF2-40B4-BE49-F238E27FC236}">
                <a16:creationId xmlns:a16="http://schemas.microsoft.com/office/drawing/2014/main" id="{021782C0-F1EA-F0B5-B1B2-B50ABB4D262E}"/>
              </a:ext>
            </a:extLst>
          </p:cNvPr>
          <p:cNvPicPr>
            <a:picLocks noChangeAspect="1"/>
          </p:cNvPicPr>
          <p:nvPr/>
        </p:nvPicPr>
        <p:blipFill>
          <a:blip r:embed="rId3"/>
          <a:stretch>
            <a:fillRect/>
          </a:stretch>
        </p:blipFill>
        <p:spPr>
          <a:xfrm>
            <a:off x="8193740" y="599746"/>
            <a:ext cx="3551228" cy="5425910"/>
          </a:xfrm>
          <a:prstGeom prst="rect">
            <a:avLst/>
          </a:prstGeom>
        </p:spPr>
      </p:pic>
    </p:spTree>
    <p:extLst>
      <p:ext uri="{BB962C8B-B14F-4D97-AF65-F5344CB8AC3E}">
        <p14:creationId xmlns:p14="http://schemas.microsoft.com/office/powerpoint/2010/main" val="32607137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CAC8F-2507-5CA8-C4CD-8C6563DBF983}"/>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4F55E3BD-487B-443F-FE89-C20467D90BC6}"/>
              </a:ext>
            </a:extLst>
          </p:cNvPr>
          <p:cNvSpPr>
            <a:spLocks noGrp="1"/>
          </p:cNvSpPr>
          <p:nvPr>
            <p:ph type="title"/>
          </p:nvPr>
        </p:nvSpPr>
        <p:spPr>
          <a:xfrm>
            <a:off x="0" y="0"/>
            <a:ext cx="8982635" cy="510988"/>
          </a:xfrm>
        </p:spPr>
        <p:txBody>
          <a:bodyPr/>
          <a:lstStyle/>
          <a:p>
            <a:r>
              <a:rPr lang="en-US" dirty="0">
                <a:solidFill>
                  <a:srgbClr val="002060"/>
                </a:solidFill>
              </a:rPr>
              <a:t>SLA </a:t>
            </a:r>
            <a:r>
              <a:rPr lang="en-US" sz="3200" dirty="0">
                <a:solidFill>
                  <a:srgbClr val="002060"/>
                </a:solidFill>
              </a:rPr>
              <a:t>Assignment</a:t>
            </a:r>
            <a:endParaRPr lang="en-US" dirty="0">
              <a:solidFill>
                <a:srgbClr val="002060"/>
              </a:solidFill>
            </a:endParaRPr>
          </a:p>
        </p:txBody>
      </p:sp>
      <p:sp>
        <p:nvSpPr>
          <p:cNvPr id="2" name="Slide Number Placeholder 1">
            <a:extLst>
              <a:ext uri="{FF2B5EF4-FFF2-40B4-BE49-F238E27FC236}">
                <a16:creationId xmlns:a16="http://schemas.microsoft.com/office/drawing/2014/main" id="{73622CEB-A94D-6DCF-80AB-4A61E39CB678}"/>
              </a:ext>
            </a:extLst>
          </p:cNvPr>
          <p:cNvSpPr>
            <a:spLocks noGrp="1"/>
          </p:cNvSpPr>
          <p:nvPr>
            <p:ph type="sldNum" sz="quarter" idx="4"/>
          </p:nvPr>
        </p:nvSpPr>
        <p:spPr>
          <a:xfrm>
            <a:off x="11842382" y="6571131"/>
            <a:ext cx="352134" cy="258362"/>
          </a:xfrm>
        </p:spPr>
        <p:txBody>
          <a:bodyPr/>
          <a:lstStyle/>
          <a:p>
            <a:fld id="{58FB4751-880F-D840-AAA9-3A15815CC996}" type="slidenum">
              <a:rPr lang="en-US" sz="1200" smtClean="0"/>
              <a:pPr/>
              <a:t>8</a:t>
            </a:fld>
            <a:endParaRPr lang="en-US" sz="1200" dirty="0"/>
          </a:p>
        </p:txBody>
      </p:sp>
      <p:sp>
        <p:nvSpPr>
          <p:cNvPr id="9" name="TextBox 8">
            <a:extLst>
              <a:ext uri="{FF2B5EF4-FFF2-40B4-BE49-F238E27FC236}">
                <a16:creationId xmlns:a16="http://schemas.microsoft.com/office/drawing/2014/main" id="{CABC0038-7479-AAC3-D250-66AB557D1D95}"/>
              </a:ext>
            </a:extLst>
          </p:cNvPr>
          <p:cNvSpPr txBox="1"/>
          <p:nvPr/>
        </p:nvSpPr>
        <p:spPr>
          <a:xfrm>
            <a:off x="-1" y="599746"/>
            <a:ext cx="8982635" cy="523220"/>
          </a:xfrm>
          <a:prstGeom prst="rect">
            <a:avLst/>
          </a:prstGeom>
          <a:noFill/>
        </p:spPr>
        <p:txBody>
          <a:bodyPr wrap="square">
            <a:spAutoFit/>
          </a:bodyPr>
          <a:lstStyle/>
          <a:p>
            <a:r>
              <a:rPr lang="en-US" sz="2800" b="1" dirty="0">
                <a:solidFill>
                  <a:schemeClr val="accent1">
                    <a:lumMod val="50000"/>
                  </a:schemeClr>
                </a:solidFill>
              </a:rPr>
              <a:t>Step 4: Aggregate Daily Ward Occupancy Across All Wards</a:t>
            </a:r>
          </a:p>
        </p:txBody>
      </p:sp>
      <p:sp>
        <p:nvSpPr>
          <p:cNvPr id="4" name="TextBox 3">
            <a:extLst>
              <a:ext uri="{FF2B5EF4-FFF2-40B4-BE49-F238E27FC236}">
                <a16:creationId xmlns:a16="http://schemas.microsoft.com/office/drawing/2014/main" id="{C00E195E-AC97-09CE-C215-395C18FAAF06}"/>
              </a:ext>
            </a:extLst>
          </p:cNvPr>
          <p:cNvSpPr txBox="1"/>
          <p:nvPr/>
        </p:nvSpPr>
        <p:spPr>
          <a:xfrm>
            <a:off x="190500" y="1333143"/>
            <a:ext cx="6172200" cy="3323987"/>
          </a:xfrm>
          <a:prstGeom prst="rect">
            <a:avLst/>
          </a:prstGeom>
          <a:noFill/>
        </p:spPr>
        <p:txBody>
          <a:bodyPr wrap="square">
            <a:spAutoFit/>
          </a:bodyPr>
          <a:lstStyle/>
          <a:p>
            <a:r>
              <a:rPr lang="en-US" sz="1400" dirty="0"/>
              <a:t>In this step, I aggregate transfer data to calculate daily ward occupancy using an event-based approach:</a:t>
            </a:r>
          </a:p>
          <a:p>
            <a:pPr marL="342900" indent="-342900">
              <a:buFont typeface="+mj-lt"/>
              <a:buAutoNum type="arabicPeriod"/>
            </a:pPr>
            <a:endParaRPr lang="en-US" sz="1400" dirty="0"/>
          </a:p>
          <a:p>
            <a:pPr marL="342900" indent="-342900">
              <a:buFont typeface="+mj-lt"/>
              <a:buAutoNum type="arabicPeriod"/>
            </a:pPr>
            <a:r>
              <a:rPr lang="en-US" sz="1400" dirty="0"/>
              <a:t>Converts INTIME and OUTTIME to datetime objects.</a:t>
            </a:r>
          </a:p>
          <a:p>
            <a:pPr marL="342900" indent="-342900">
              <a:buFont typeface="+mj-lt"/>
              <a:buAutoNum type="arabicPeriod"/>
            </a:pPr>
            <a:r>
              <a:rPr lang="en-US" sz="1400" dirty="0"/>
              <a:t>Drops rows with missing critical occupancy information.</a:t>
            </a:r>
          </a:p>
          <a:p>
            <a:pPr marL="342900" indent="-342900">
              <a:buFont typeface="+mj-lt"/>
              <a:buAutoNum type="arabicPeriod"/>
            </a:pPr>
            <a:r>
              <a:rPr lang="en-US" sz="1400" dirty="0"/>
              <a:t>Calculates the duration of stay.</a:t>
            </a:r>
          </a:p>
          <a:p>
            <a:pPr marL="342900" indent="-342900">
              <a:buFont typeface="+mj-lt"/>
              <a:buAutoNum type="arabicPeriod"/>
            </a:pPr>
            <a:r>
              <a:rPr lang="en-US" sz="1400" dirty="0"/>
              <a:t>Creates 'arrival' (+1 occupancy) and 'departure' (-1 occupancy) events.</a:t>
            </a:r>
          </a:p>
          <a:p>
            <a:pPr marL="342900" indent="-342900">
              <a:buFont typeface="+mj-lt"/>
              <a:buAutoNum type="arabicPeriod"/>
            </a:pPr>
            <a:r>
              <a:rPr lang="en-US" sz="1400" dirty="0"/>
              <a:t>Combines and sorts all events chronologically.</a:t>
            </a:r>
          </a:p>
          <a:p>
            <a:pPr marL="342900" indent="-342900">
              <a:buFont typeface="+mj-lt"/>
              <a:buAutoNum type="arabicPeriod"/>
            </a:pPr>
            <a:r>
              <a:rPr lang="en-US" sz="1400" dirty="0"/>
              <a:t>Calculates the cumulative sum of occupancy changes for each ward.</a:t>
            </a:r>
          </a:p>
          <a:p>
            <a:pPr marL="342900" indent="-342900">
              <a:buFont typeface="+mj-lt"/>
              <a:buAutoNum type="arabicPeriod"/>
            </a:pPr>
            <a:r>
              <a:rPr lang="en-US" sz="1400" dirty="0"/>
              <a:t>Resamples the data to a daily frequency, taking the last observation of the day and forward-filling missing days.</a:t>
            </a:r>
          </a:p>
          <a:p>
            <a:pPr marL="342900" indent="-342900">
              <a:buFont typeface="+mj-lt"/>
              <a:buAutoNum type="arabicPeriod"/>
            </a:pPr>
            <a:r>
              <a:rPr lang="en-US" sz="1400" dirty="0"/>
              <a:t>Renames the final </a:t>
            </a:r>
            <a:r>
              <a:rPr lang="en-US" sz="1400" dirty="0" err="1"/>
              <a:t>DataFrame</a:t>
            </a:r>
            <a:r>
              <a:rPr lang="en-US" sz="1400" dirty="0"/>
              <a:t> to </a:t>
            </a:r>
            <a:r>
              <a:rPr lang="en-US" sz="1400" dirty="0" err="1"/>
              <a:t>ward_ts</a:t>
            </a:r>
            <a:r>
              <a:rPr lang="en-US" sz="1400" dirty="0"/>
              <a:t>.</a:t>
            </a:r>
          </a:p>
          <a:p>
            <a:pPr marL="342900" indent="-342900">
              <a:buFont typeface="+mj-lt"/>
              <a:buAutoNum type="arabicPeriod"/>
            </a:pPr>
            <a:r>
              <a:rPr lang="en-US" sz="1400" dirty="0"/>
              <a:t>This process transforms raw transfer data into a daily time series of ward occupancy.</a:t>
            </a:r>
          </a:p>
          <a:p>
            <a:pPr marL="342900" indent="-342900">
              <a:buFont typeface="+mj-lt"/>
              <a:buAutoNum type="arabicPeriod"/>
            </a:pPr>
            <a:r>
              <a:rPr lang="en-US" sz="1400" dirty="0"/>
              <a:t>Finally describing the </a:t>
            </a:r>
            <a:r>
              <a:rPr lang="en-US" sz="1400" dirty="0" err="1"/>
              <a:t>all_wards</a:t>
            </a:r>
            <a:r>
              <a:rPr lang="en-US" sz="1400" dirty="0"/>
              <a:t> data frame.</a:t>
            </a:r>
          </a:p>
        </p:txBody>
      </p:sp>
      <p:sp>
        <p:nvSpPr>
          <p:cNvPr id="5" name="TextBox 4">
            <a:extLst>
              <a:ext uri="{FF2B5EF4-FFF2-40B4-BE49-F238E27FC236}">
                <a16:creationId xmlns:a16="http://schemas.microsoft.com/office/drawing/2014/main" id="{9536089E-C23C-E6C0-5E7A-3E1957FDC33F}"/>
              </a:ext>
            </a:extLst>
          </p:cNvPr>
          <p:cNvSpPr txBox="1"/>
          <p:nvPr/>
        </p:nvSpPr>
        <p:spPr>
          <a:xfrm>
            <a:off x="190500" y="5201691"/>
            <a:ext cx="9712402" cy="646331"/>
          </a:xfrm>
          <a:prstGeom prst="rect">
            <a:avLst/>
          </a:prstGeom>
          <a:noFill/>
        </p:spPr>
        <p:txBody>
          <a:bodyPr wrap="none" rtlCol="0">
            <a:spAutoFit/>
          </a:bodyPr>
          <a:lstStyle/>
          <a:p>
            <a:r>
              <a:rPr lang="en-US" b="1" dirty="0"/>
              <a:t>Note</a:t>
            </a:r>
            <a:r>
              <a:rPr lang="en-US" dirty="0"/>
              <a:t>: Why I aggregate all wards together ?</a:t>
            </a:r>
          </a:p>
          <a:p>
            <a:r>
              <a:rPr lang="en-US" dirty="0"/>
              <a:t>This project is to </a:t>
            </a:r>
            <a:r>
              <a:rPr lang="en-US" b="1" dirty="0">
                <a:solidFill>
                  <a:srgbClr val="0070C0"/>
                </a:solidFill>
              </a:rPr>
              <a:t>Forecast daily ward occupancy Load. </a:t>
            </a:r>
            <a:r>
              <a:rPr lang="en-US" dirty="0"/>
              <a:t>Hence, I am aggregating all the wards data together.</a:t>
            </a:r>
          </a:p>
        </p:txBody>
      </p:sp>
      <p:pic>
        <p:nvPicPr>
          <p:cNvPr id="7" name="Picture 6">
            <a:extLst>
              <a:ext uri="{FF2B5EF4-FFF2-40B4-BE49-F238E27FC236}">
                <a16:creationId xmlns:a16="http://schemas.microsoft.com/office/drawing/2014/main" id="{9E481F14-7F2E-A41D-2AC8-FDA067E35293}"/>
              </a:ext>
            </a:extLst>
          </p:cNvPr>
          <p:cNvPicPr>
            <a:picLocks noChangeAspect="1"/>
          </p:cNvPicPr>
          <p:nvPr/>
        </p:nvPicPr>
        <p:blipFill>
          <a:blip r:embed="rId3"/>
          <a:stretch>
            <a:fillRect/>
          </a:stretch>
        </p:blipFill>
        <p:spPr>
          <a:xfrm>
            <a:off x="6651812" y="2683573"/>
            <a:ext cx="5111490" cy="1851820"/>
          </a:xfrm>
          <a:prstGeom prst="rect">
            <a:avLst/>
          </a:prstGeom>
        </p:spPr>
      </p:pic>
    </p:spTree>
    <p:extLst>
      <p:ext uri="{BB962C8B-B14F-4D97-AF65-F5344CB8AC3E}">
        <p14:creationId xmlns:p14="http://schemas.microsoft.com/office/powerpoint/2010/main" val="13193710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BB4BB-DB58-AB4E-EA25-8BE2A2FE6766}"/>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B6601807-2096-2653-01F8-943C7A5BABC8}"/>
              </a:ext>
            </a:extLst>
          </p:cNvPr>
          <p:cNvSpPr>
            <a:spLocks noGrp="1"/>
          </p:cNvSpPr>
          <p:nvPr>
            <p:ph type="title"/>
          </p:nvPr>
        </p:nvSpPr>
        <p:spPr>
          <a:xfrm>
            <a:off x="0" y="0"/>
            <a:ext cx="8982635" cy="510988"/>
          </a:xfrm>
        </p:spPr>
        <p:txBody>
          <a:bodyPr/>
          <a:lstStyle/>
          <a:p>
            <a:r>
              <a:rPr lang="en-US" dirty="0">
                <a:solidFill>
                  <a:srgbClr val="002060"/>
                </a:solidFill>
              </a:rPr>
              <a:t>SLA </a:t>
            </a:r>
            <a:r>
              <a:rPr lang="en-US" sz="3200" dirty="0">
                <a:solidFill>
                  <a:srgbClr val="002060"/>
                </a:solidFill>
              </a:rPr>
              <a:t>Assignment</a:t>
            </a:r>
            <a:endParaRPr lang="en-US" dirty="0">
              <a:solidFill>
                <a:srgbClr val="002060"/>
              </a:solidFill>
            </a:endParaRPr>
          </a:p>
        </p:txBody>
      </p:sp>
      <p:sp>
        <p:nvSpPr>
          <p:cNvPr id="2" name="Slide Number Placeholder 1">
            <a:extLst>
              <a:ext uri="{FF2B5EF4-FFF2-40B4-BE49-F238E27FC236}">
                <a16:creationId xmlns:a16="http://schemas.microsoft.com/office/drawing/2014/main" id="{4A2BB98E-F772-8EC3-1817-D8D4196EC1AE}"/>
              </a:ext>
            </a:extLst>
          </p:cNvPr>
          <p:cNvSpPr>
            <a:spLocks noGrp="1"/>
          </p:cNvSpPr>
          <p:nvPr>
            <p:ph type="sldNum" sz="quarter" idx="4"/>
          </p:nvPr>
        </p:nvSpPr>
        <p:spPr>
          <a:xfrm>
            <a:off x="11842382" y="6571131"/>
            <a:ext cx="352134" cy="258362"/>
          </a:xfrm>
        </p:spPr>
        <p:txBody>
          <a:bodyPr/>
          <a:lstStyle/>
          <a:p>
            <a:fld id="{58FB4751-880F-D840-AAA9-3A15815CC996}" type="slidenum">
              <a:rPr lang="en-US" sz="1200" smtClean="0"/>
              <a:pPr/>
              <a:t>9</a:t>
            </a:fld>
            <a:endParaRPr lang="en-US" sz="1200" dirty="0"/>
          </a:p>
        </p:txBody>
      </p:sp>
      <p:sp>
        <p:nvSpPr>
          <p:cNvPr id="9" name="TextBox 8">
            <a:extLst>
              <a:ext uri="{FF2B5EF4-FFF2-40B4-BE49-F238E27FC236}">
                <a16:creationId xmlns:a16="http://schemas.microsoft.com/office/drawing/2014/main" id="{6E32BDFE-B3AC-7C54-31AD-9938FC3C860A}"/>
              </a:ext>
            </a:extLst>
          </p:cNvPr>
          <p:cNvSpPr txBox="1"/>
          <p:nvPr/>
        </p:nvSpPr>
        <p:spPr>
          <a:xfrm>
            <a:off x="-1" y="599746"/>
            <a:ext cx="8982635" cy="523220"/>
          </a:xfrm>
          <a:prstGeom prst="rect">
            <a:avLst/>
          </a:prstGeom>
          <a:noFill/>
        </p:spPr>
        <p:txBody>
          <a:bodyPr wrap="square">
            <a:spAutoFit/>
          </a:bodyPr>
          <a:lstStyle/>
          <a:p>
            <a:r>
              <a:rPr lang="en-US" sz="2800" b="1" dirty="0">
                <a:solidFill>
                  <a:schemeClr val="accent1">
                    <a:lumMod val="50000"/>
                  </a:schemeClr>
                </a:solidFill>
              </a:rPr>
              <a:t>Step 5: Time Series Forecasting with Prophet </a:t>
            </a:r>
          </a:p>
        </p:txBody>
      </p:sp>
      <p:sp>
        <p:nvSpPr>
          <p:cNvPr id="4" name="TextBox 3">
            <a:extLst>
              <a:ext uri="{FF2B5EF4-FFF2-40B4-BE49-F238E27FC236}">
                <a16:creationId xmlns:a16="http://schemas.microsoft.com/office/drawing/2014/main" id="{B62AE66C-7C21-78F1-5C00-08B7EB9AC713}"/>
              </a:ext>
            </a:extLst>
          </p:cNvPr>
          <p:cNvSpPr txBox="1"/>
          <p:nvPr/>
        </p:nvSpPr>
        <p:spPr>
          <a:xfrm>
            <a:off x="136712" y="1178048"/>
            <a:ext cx="6172200" cy="5678478"/>
          </a:xfrm>
          <a:prstGeom prst="rect">
            <a:avLst/>
          </a:prstGeom>
          <a:noFill/>
        </p:spPr>
        <p:txBody>
          <a:bodyPr wrap="square">
            <a:spAutoFit/>
          </a:bodyPr>
          <a:lstStyle/>
          <a:p>
            <a:r>
              <a:rPr lang="en-US" sz="1100" dirty="0">
                <a:solidFill>
                  <a:schemeClr val="tx1">
                    <a:lumMod val="75000"/>
                  </a:schemeClr>
                </a:solidFill>
              </a:rPr>
              <a:t>Based on the nature of ward occupancy data and how Prophet models time series, here's a description of the expected patterns in the two lines (historical/actual and forecasted/predicted) in each diagram:</a:t>
            </a:r>
          </a:p>
          <a:p>
            <a:endParaRPr lang="en-US" sz="1100" dirty="0">
              <a:solidFill>
                <a:schemeClr val="tx1">
                  <a:lumMod val="75000"/>
                </a:schemeClr>
              </a:solidFill>
            </a:endParaRPr>
          </a:p>
          <a:p>
            <a:r>
              <a:rPr lang="en-US" sz="1100" b="1" dirty="0">
                <a:solidFill>
                  <a:srgbClr val="0070C0"/>
                </a:solidFill>
              </a:rPr>
              <a:t>Ward Occupancy Forecast Plot (Historical Data vs. Forecast):</a:t>
            </a:r>
          </a:p>
          <a:p>
            <a:endParaRPr lang="en-US" sz="1100" dirty="0">
              <a:solidFill>
                <a:schemeClr val="tx1">
                  <a:lumMod val="75000"/>
                </a:schemeClr>
              </a:solidFill>
            </a:endParaRPr>
          </a:p>
          <a:p>
            <a:r>
              <a:rPr lang="en-US" sz="1100" b="1" dirty="0">
                <a:solidFill>
                  <a:srgbClr val="0070C0"/>
                </a:solidFill>
              </a:rPr>
              <a:t>Black dots: </a:t>
            </a:r>
            <a:r>
              <a:rPr lang="en-US" sz="1100" dirty="0">
                <a:solidFill>
                  <a:schemeClr val="tx1">
                    <a:lumMod val="75000"/>
                  </a:schemeClr>
                </a:solidFill>
              </a:rPr>
              <a:t>Historical all ward occupancy data points.</a:t>
            </a:r>
          </a:p>
          <a:p>
            <a:r>
              <a:rPr lang="en-US" sz="1100" b="1" dirty="0">
                <a:solidFill>
                  <a:srgbClr val="0070C0"/>
                </a:solidFill>
              </a:rPr>
              <a:t>Blue line</a:t>
            </a:r>
            <a:r>
              <a:rPr lang="en-US" sz="1100" dirty="0">
                <a:solidFill>
                  <a:schemeClr val="tx1">
                    <a:lumMod val="75000"/>
                  </a:schemeClr>
                </a:solidFill>
              </a:rPr>
              <a:t>: Prophet’s predicted trend for all ward occupancy</a:t>
            </a:r>
          </a:p>
          <a:p>
            <a:r>
              <a:rPr lang="en-US" sz="1100" b="1" dirty="0">
                <a:solidFill>
                  <a:srgbClr val="0070C0"/>
                </a:solidFill>
              </a:rPr>
              <a:t>Light blue shaded area: </a:t>
            </a:r>
            <a:r>
              <a:rPr lang="en-US" sz="1100" dirty="0">
                <a:solidFill>
                  <a:schemeClr val="tx1">
                    <a:lumMod val="75000"/>
                  </a:schemeClr>
                </a:solidFill>
              </a:rPr>
              <a:t>Uncertainty interval for the forecast.</a:t>
            </a:r>
          </a:p>
          <a:p>
            <a:r>
              <a:rPr lang="en-US" sz="1100" dirty="0">
                <a:solidFill>
                  <a:schemeClr val="tx1">
                    <a:lumMod val="75000"/>
                  </a:schemeClr>
                </a:solidFill>
              </a:rPr>
              <a:t>The forecast extends beyond the historical data, showing a relatively stable trend with slight fluctuations.</a:t>
            </a:r>
          </a:p>
          <a:p>
            <a:r>
              <a:rPr lang="en-US" sz="1100" dirty="0">
                <a:solidFill>
                  <a:schemeClr val="tx1">
                    <a:lumMod val="75000"/>
                  </a:schemeClr>
                </a:solidFill>
              </a:rPr>
              <a:t>No strong upward or downward trend detected; occupancy remains mostly low.</a:t>
            </a:r>
          </a:p>
          <a:p>
            <a:r>
              <a:rPr lang="en-US" sz="1100" dirty="0">
                <a:solidFill>
                  <a:schemeClr val="tx1">
                    <a:lumMod val="75000"/>
                  </a:schemeClr>
                </a:solidFill>
              </a:rPr>
              <a:t>Prophet Model Components Plots: These plots show how different time-based factors contribute to the overall forecast. Each plot will typically show a single line representing the estimated impact of that component over time:</a:t>
            </a:r>
          </a:p>
          <a:p>
            <a:endParaRPr lang="en-US" sz="1100" dirty="0">
              <a:solidFill>
                <a:schemeClr val="tx1">
                  <a:lumMod val="75000"/>
                </a:schemeClr>
              </a:solidFill>
            </a:endParaRPr>
          </a:p>
          <a:p>
            <a:r>
              <a:rPr lang="en-US" sz="1100" b="1" dirty="0">
                <a:solidFill>
                  <a:srgbClr val="0070C0"/>
                </a:solidFill>
              </a:rPr>
              <a:t>Trend Component: </a:t>
            </a:r>
            <a:r>
              <a:rPr lang="en-US" sz="1100" dirty="0">
                <a:solidFill>
                  <a:schemeClr val="tx1">
                    <a:lumMod val="75000"/>
                  </a:schemeClr>
                </a:solidFill>
              </a:rPr>
              <a:t>Shows a mild increase followed by a slight decline toward the end of the forecast horizon. Indicates overall all ward occupancy is fairly stable over time.</a:t>
            </a:r>
          </a:p>
          <a:p>
            <a:endParaRPr lang="en-US" sz="1100" dirty="0">
              <a:solidFill>
                <a:schemeClr val="tx1">
                  <a:lumMod val="75000"/>
                </a:schemeClr>
              </a:solidFill>
            </a:endParaRPr>
          </a:p>
          <a:p>
            <a:r>
              <a:rPr lang="en-US" sz="1100" b="1" dirty="0">
                <a:solidFill>
                  <a:srgbClr val="0070C0"/>
                </a:solidFill>
              </a:rPr>
              <a:t>Yearly Seasonality: </a:t>
            </a:r>
            <a:r>
              <a:rPr lang="en-US" sz="1100" dirty="0">
                <a:solidFill>
                  <a:schemeClr val="tx1">
                    <a:lumMod val="75000"/>
                  </a:schemeClr>
                </a:solidFill>
              </a:rPr>
              <a:t>This line illustrates the typical pattern that repeats every year. Peaks around July and dips around January, indicating possible seasonal hospital load (summer higher, winter lower).</a:t>
            </a:r>
          </a:p>
          <a:p>
            <a:endParaRPr lang="en-US" sz="1100" dirty="0">
              <a:solidFill>
                <a:schemeClr val="tx1">
                  <a:lumMod val="75000"/>
                </a:schemeClr>
              </a:solidFill>
            </a:endParaRPr>
          </a:p>
          <a:p>
            <a:r>
              <a:rPr lang="en-US" sz="1100" b="1" dirty="0">
                <a:solidFill>
                  <a:srgbClr val="0070C0"/>
                </a:solidFill>
              </a:rPr>
              <a:t>Weekly Seasonality: </a:t>
            </a:r>
            <a:r>
              <a:rPr lang="en-US" sz="1100" dirty="0">
                <a:solidFill>
                  <a:schemeClr val="tx1">
                    <a:lumMod val="75000"/>
                  </a:schemeClr>
                </a:solidFill>
              </a:rPr>
              <a:t>This line shows the typical pattern that repeats every week. For ward occupancy, you might see consistent peaks and troughs corresponding to specific days of the week. Occupancy tends to be higher on Monday and Tuesday, then gradually decreases toward </a:t>
            </a:r>
            <a:r>
              <a:rPr lang="en-US" sz="1100" dirty="0" err="1">
                <a:solidFill>
                  <a:schemeClr val="tx1">
                    <a:lumMod val="75000"/>
                  </a:schemeClr>
                </a:solidFill>
              </a:rPr>
              <a:t>Saturday.Suggests</a:t>
            </a:r>
            <a:r>
              <a:rPr lang="en-US" sz="1100" dirty="0">
                <a:solidFill>
                  <a:schemeClr val="tx1">
                    <a:lumMod val="75000"/>
                  </a:schemeClr>
                </a:solidFill>
              </a:rPr>
              <a:t> weekday patterns in MICU admissions.</a:t>
            </a:r>
          </a:p>
          <a:p>
            <a:endParaRPr lang="en-US" sz="1100" dirty="0">
              <a:solidFill>
                <a:schemeClr val="tx1">
                  <a:lumMod val="75000"/>
                </a:schemeClr>
              </a:solidFill>
            </a:endParaRPr>
          </a:p>
          <a:p>
            <a:r>
              <a:rPr lang="en-US" sz="1100" dirty="0">
                <a:solidFill>
                  <a:schemeClr val="tx1">
                    <a:lumMod val="75000"/>
                  </a:schemeClr>
                </a:solidFill>
              </a:rPr>
              <a:t>Additional Seasonal Components: Monthly and daily cycles show oscillations, but no extreme variations. Confirms that all ward occupancy has some periodic behavior but remains generally low</a:t>
            </a:r>
          </a:p>
          <a:p>
            <a:endParaRPr lang="en-US" sz="1100" dirty="0">
              <a:solidFill>
                <a:schemeClr val="tx1">
                  <a:lumMod val="75000"/>
                </a:schemeClr>
              </a:solidFill>
            </a:endParaRPr>
          </a:p>
          <a:p>
            <a:r>
              <a:rPr lang="en-US" sz="1100" b="1" dirty="0">
                <a:solidFill>
                  <a:srgbClr val="0070C0"/>
                </a:solidFill>
              </a:rPr>
              <a:t>Summary:</a:t>
            </a:r>
          </a:p>
          <a:p>
            <a:r>
              <a:rPr lang="en-US" sz="1100" dirty="0">
                <a:solidFill>
                  <a:schemeClr val="tx1">
                    <a:lumMod val="75000"/>
                  </a:schemeClr>
                </a:solidFill>
              </a:rPr>
              <a:t>all ward occupancy is low and stable, with occasional spikes.</a:t>
            </a:r>
          </a:p>
          <a:p>
            <a:r>
              <a:rPr lang="en-US" sz="1100" dirty="0">
                <a:solidFill>
                  <a:schemeClr val="tx1">
                    <a:lumMod val="75000"/>
                  </a:schemeClr>
                </a:solidFill>
              </a:rPr>
              <a:t>Prophet detected weekly and yearly seasonality, which can help in resource planning (e.g., staffing more on Mondays and in summer months).</a:t>
            </a:r>
          </a:p>
          <a:p>
            <a:r>
              <a:rPr lang="en-US" sz="1100" dirty="0">
                <a:solidFill>
                  <a:schemeClr val="tx1">
                    <a:lumMod val="75000"/>
                  </a:schemeClr>
                </a:solidFill>
              </a:rPr>
              <a:t>Forecast uncertainty grows over time, which is expected for time-series models.</a:t>
            </a:r>
          </a:p>
        </p:txBody>
      </p:sp>
      <p:pic>
        <p:nvPicPr>
          <p:cNvPr id="10" name="Picture 9">
            <a:extLst>
              <a:ext uri="{FF2B5EF4-FFF2-40B4-BE49-F238E27FC236}">
                <a16:creationId xmlns:a16="http://schemas.microsoft.com/office/drawing/2014/main" id="{55C53DF6-2622-E316-32BC-C25DCBC06E61}"/>
              </a:ext>
            </a:extLst>
          </p:cNvPr>
          <p:cNvPicPr>
            <a:picLocks noChangeAspect="1"/>
          </p:cNvPicPr>
          <p:nvPr/>
        </p:nvPicPr>
        <p:blipFill>
          <a:blip r:embed="rId3"/>
          <a:stretch>
            <a:fillRect/>
          </a:stretch>
        </p:blipFill>
        <p:spPr>
          <a:xfrm>
            <a:off x="7370140" y="84158"/>
            <a:ext cx="3069260" cy="3731475"/>
          </a:xfrm>
          <a:prstGeom prst="rect">
            <a:avLst/>
          </a:prstGeom>
        </p:spPr>
      </p:pic>
      <p:pic>
        <p:nvPicPr>
          <p:cNvPr id="13" name="Picture 12">
            <a:extLst>
              <a:ext uri="{FF2B5EF4-FFF2-40B4-BE49-F238E27FC236}">
                <a16:creationId xmlns:a16="http://schemas.microsoft.com/office/drawing/2014/main" id="{55AE06BD-E5A3-ABC4-A381-0A21E39755B7}"/>
              </a:ext>
            </a:extLst>
          </p:cNvPr>
          <p:cNvPicPr>
            <a:picLocks noChangeAspect="1"/>
          </p:cNvPicPr>
          <p:nvPr/>
        </p:nvPicPr>
        <p:blipFill>
          <a:blip r:embed="rId4"/>
          <a:stretch>
            <a:fillRect/>
          </a:stretch>
        </p:blipFill>
        <p:spPr>
          <a:xfrm>
            <a:off x="7370140" y="3815633"/>
            <a:ext cx="3069260" cy="2896846"/>
          </a:xfrm>
          <a:prstGeom prst="rect">
            <a:avLst/>
          </a:prstGeom>
        </p:spPr>
      </p:pic>
    </p:spTree>
    <p:extLst>
      <p:ext uri="{BB962C8B-B14F-4D97-AF65-F5344CB8AC3E}">
        <p14:creationId xmlns:p14="http://schemas.microsoft.com/office/powerpoint/2010/main" val="10785417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3DEEA-6A8F-465A-31AB-D51CA0A87E2F}"/>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55B7CFFF-6050-0045-C0E9-04D52BB5C3CF}"/>
              </a:ext>
            </a:extLst>
          </p:cNvPr>
          <p:cNvSpPr>
            <a:spLocks noGrp="1"/>
          </p:cNvSpPr>
          <p:nvPr>
            <p:ph type="title"/>
          </p:nvPr>
        </p:nvSpPr>
        <p:spPr>
          <a:xfrm>
            <a:off x="0" y="0"/>
            <a:ext cx="8982635" cy="510988"/>
          </a:xfrm>
        </p:spPr>
        <p:txBody>
          <a:bodyPr/>
          <a:lstStyle/>
          <a:p>
            <a:r>
              <a:rPr lang="en-US" dirty="0">
                <a:solidFill>
                  <a:srgbClr val="002060"/>
                </a:solidFill>
              </a:rPr>
              <a:t>SLA </a:t>
            </a:r>
            <a:r>
              <a:rPr lang="en-US" sz="3200" dirty="0">
                <a:solidFill>
                  <a:srgbClr val="002060"/>
                </a:solidFill>
              </a:rPr>
              <a:t>Assignment</a:t>
            </a:r>
            <a:endParaRPr lang="en-US" dirty="0">
              <a:solidFill>
                <a:srgbClr val="002060"/>
              </a:solidFill>
            </a:endParaRPr>
          </a:p>
        </p:txBody>
      </p:sp>
      <p:sp>
        <p:nvSpPr>
          <p:cNvPr id="2" name="Slide Number Placeholder 1">
            <a:extLst>
              <a:ext uri="{FF2B5EF4-FFF2-40B4-BE49-F238E27FC236}">
                <a16:creationId xmlns:a16="http://schemas.microsoft.com/office/drawing/2014/main" id="{3962FECB-2A6D-23B1-1B13-0DBCB4CBB2FB}"/>
              </a:ext>
            </a:extLst>
          </p:cNvPr>
          <p:cNvSpPr>
            <a:spLocks noGrp="1"/>
          </p:cNvSpPr>
          <p:nvPr>
            <p:ph type="sldNum" sz="quarter" idx="4"/>
          </p:nvPr>
        </p:nvSpPr>
        <p:spPr>
          <a:xfrm>
            <a:off x="11842382" y="6571131"/>
            <a:ext cx="352134" cy="258362"/>
          </a:xfrm>
        </p:spPr>
        <p:txBody>
          <a:bodyPr/>
          <a:lstStyle/>
          <a:p>
            <a:fld id="{58FB4751-880F-D840-AAA9-3A15815CC996}" type="slidenum">
              <a:rPr lang="en-US" sz="1200" smtClean="0"/>
              <a:pPr/>
              <a:t>10</a:t>
            </a:fld>
            <a:endParaRPr lang="en-US" sz="1200" dirty="0"/>
          </a:p>
        </p:txBody>
      </p:sp>
      <p:sp>
        <p:nvSpPr>
          <p:cNvPr id="9" name="TextBox 8">
            <a:extLst>
              <a:ext uri="{FF2B5EF4-FFF2-40B4-BE49-F238E27FC236}">
                <a16:creationId xmlns:a16="http://schemas.microsoft.com/office/drawing/2014/main" id="{6703E69C-A194-FDD5-0AFF-6E26677AB914}"/>
              </a:ext>
            </a:extLst>
          </p:cNvPr>
          <p:cNvSpPr txBox="1"/>
          <p:nvPr/>
        </p:nvSpPr>
        <p:spPr>
          <a:xfrm>
            <a:off x="-1" y="599746"/>
            <a:ext cx="8982635" cy="523220"/>
          </a:xfrm>
          <a:prstGeom prst="rect">
            <a:avLst/>
          </a:prstGeom>
          <a:noFill/>
        </p:spPr>
        <p:txBody>
          <a:bodyPr wrap="square">
            <a:spAutoFit/>
          </a:bodyPr>
          <a:lstStyle/>
          <a:p>
            <a:r>
              <a:rPr lang="en-US" sz="2800" b="1" dirty="0">
                <a:solidFill>
                  <a:schemeClr val="accent1">
                    <a:lumMod val="50000"/>
                  </a:schemeClr>
                </a:solidFill>
              </a:rPr>
              <a:t>Step 5.1: Prophet Model Evaluation Summary</a:t>
            </a:r>
          </a:p>
        </p:txBody>
      </p:sp>
      <p:sp>
        <p:nvSpPr>
          <p:cNvPr id="4" name="TextBox 3">
            <a:extLst>
              <a:ext uri="{FF2B5EF4-FFF2-40B4-BE49-F238E27FC236}">
                <a16:creationId xmlns:a16="http://schemas.microsoft.com/office/drawing/2014/main" id="{8CD5E746-7BD3-AC69-5CF0-D67FF831FAB7}"/>
              </a:ext>
            </a:extLst>
          </p:cNvPr>
          <p:cNvSpPr txBox="1"/>
          <p:nvPr/>
        </p:nvSpPr>
        <p:spPr>
          <a:xfrm>
            <a:off x="136712" y="1178048"/>
            <a:ext cx="6172200" cy="3323987"/>
          </a:xfrm>
          <a:prstGeom prst="rect">
            <a:avLst/>
          </a:prstGeom>
          <a:noFill/>
        </p:spPr>
        <p:txBody>
          <a:bodyPr wrap="square">
            <a:spAutoFit/>
          </a:bodyPr>
          <a:lstStyle/>
          <a:p>
            <a:pPr marL="285750" indent="-285750">
              <a:buFont typeface="Arial" panose="020B0604020202020204" pitchFamily="34" charset="0"/>
              <a:buChar char="•"/>
            </a:pPr>
            <a:r>
              <a:rPr lang="en-US" sz="1400" dirty="0">
                <a:solidFill>
                  <a:schemeClr val="tx1">
                    <a:lumMod val="75000"/>
                  </a:schemeClr>
                </a:solidFill>
              </a:rPr>
              <a:t>A Prophet model was trained on historical MICU occupancy data with daily, weekly, and yearly seasonality enabled. Predictions were made on the historical dataset to evaluate performance. Accuracy metrics were calculated:</a:t>
            </a:r>
          </a:p>
          <a:p>
            <a:pPr marL="285750" indent="-285750">
              <a:buFont typeface="Arial" panose="020B0604020202020204" pitchFamily="34" charset="0"/>
              <a:buChar char="•"/>
            </a:pPr>
            <a:endParaRPr lang="en-US" sz="1400" dirty="0">
              <a:solidFill>
                <a:schemeClr val="tx1">
                  <a:lumMod val="75000"/>
                </a:schemeClr>
              </a:solidFill>
            </a:endParaRPr>
          </a:p>
          <a:p>
            <a:pPr marL="285750" indent="-285750">
              <a:buFont typeface="Arial" panose="020B0604020202020204" pitchFamily="34" charset="0"/>
              <a:buChar char="•"/>
            </a:pPr>
            <a:r>
              <a:rPr lang="en-US" sz="1400" b="1" dirty="0">
                <a:solidFill>
                  <a:srgbClr val="00B0F0"/>
                </a:solidFill>
              </a:rPr>
              <a:t>RMSE (Root Mean Squared Error): </a:t>
            </a:r>
            <a:r>
              <a:rPr lang="en-US" sz="1400" dirty="0">
                <a:solidFill>
                  <a:schemeClr val="tx1">
                    <a:lumMod val="75000"/>
                  </a:schemeClr>
                </a:solidFill>
              </a:rPr>
              <a:t>Measures the absolute error.</a:t>
            </a:r>
          </a:p>
          <a:p>
            <a:pPr marL="285750" indent="-285750">
              <a:buFont typeface="Arial" panose="020B0604020202020204" pitchFamily="34" charset="0"/>
              <a:buChar char="•"/>
            </a:pPr>
            <a:endParaRPr lang="en-US" sz="1400" dirty="0">
              <a:solidFill>
                <a:schemeClr val="tx1">
                  <a:lumMod val="75000"/>
                </a:schemeClr>
              </a:solidFill>
            </a:endParaRPr>
          </a:p>
          <a:p>
            <a:pPr marL="285750" indent="-285750">
              <a:buFont typeface="Arial" panose="020B0604020202020204" pitchFamily="34" charset="0"/>
              <a:buChar char="•"/>
            </a:pPr>
            <a:r>
              <a:rPr lang="en-US" sz="1400" b="1" dirty="0">
                <a:solidFill>
                  <a:srgbClr val="00B0F0"/>
                </a:solidFill>
              </a:rPr>
              <a:t>RMSE</a:t>
            </a:r>
            <a:r>
              <a:rPr lang="en-US" sz="1400" dirty="0">
                <a:solidFill>
                  <a:schemeClr val="tx1">
                    <a:lumMod val="75000"/>
                  </a:schemeClr>
                </a:solidFill>
              </a:rPr>
              <a:t>: 1.48 - On average, Prophet’s predictions differ from actual MICU occupancy by about 1.5 patients.</a:t>
            </a:r>
          </a:p>
          <a:p>
            <a:pPr marL="285750" indent="-285750">
              <a:buFont typeface="Arial" panose="020B0604020202020204" pitchFamily="34" charset="0"/>
              <a:buChar char="•"/>
            </a:pPr>
            <a:r>
              <a:rPr lang="en-US" sz="1400" dirty="0">
                <a:solidFill>
                  <a:schemeClr val="tx1">
                    <a:lumMod val="75000"/>
                  </a:schemeClr>
                </a:solidFill>
              </a:rPr>
              <a:t>MAPE (Mean Absolute Percentage Error): Adjusted to exclude zero occupancy days to avoid division by zero.</a:t>
            </a:r>
          </a:p>
          <a:p>
            <a:pPr marL="285750" indent="-285750">
              <a:buFont typeface="Arial" panose="020B0604020202020204" pitchFamily="34" charset="0"/>
              <a:buChar char="•"/>
            </a:pPr>
            <a:endParaRPr lang="en-US" sz="1400" dirty="0">
              <a:solidFill>
                <a:schemeClr val="tx1">
                  <a:lumMod val="75000"/>
                </a:schemeClr>
              </a:solidFill>
            </a:endParaRPr>
          </a:p>
          <a:p>
            <a:pPr marL="285750" indent="-285750">
              <a:buFont typeface="Arial" panose="020B0604020202020204" pitchFamily="34" charset="0"/>
              <a:buChar char="•"/>
            </a:pPr>
            <a:r>
              <a:rPr lang="en-US" sz="1400" b="1" dirty="0">
                <a:solidFill>
                  <a:srgbClr val="00B0F0"/>
                </a:solidFill>
              </a:rPr>
              <a:t>Adjusted MAPE </a:t>
            </a:r>
            <a:r>
              <a:rPr lang="en-US" sz="1400" dirty="0">
                <a:solidFill>
                  <a:schemeClr val="tx1">
                    <a:lumMod val="75000"/>
                  </a:schemeClr>
                </a:solidFill>
              </a:rPr>
              <a:t>(excluding zeros): 50.19% - Indicates percentage error is high because occupancy values are small (0–10), so even small absolute errors cause large percentage differences. What </a:t>
            </a:r>
            <a:r>
              <a:rPr lang="en-US" sz="1400" dirty="0" err="1">
                <a:solidFill>
                  <a:schemeClr val="tx1">
                    <a:lumMod val="75000"/>
                  </a:schemeClr>
                </a:solidFill>
              </a:rPr>
              <a:t>i</a:t>
            </a:r>
            <a:r>
              <a:rPr lang="en-US" sz="1400" dirty="0">
                <a:solidFill>
                  <a:schemeClr val="tx1">
                    <a:lumMod val="75000"/>
                  </a:schemeClr>
                </a:solidFill>
              </a:rPr>
              <a:t> feel is the data in transfers table needs more accurate data.</a:t>
            </a:r>
          </a:p>
        </p:txBody>
      </p:sp>
      <p:pic>
        <p:nvPicPr>
          <p:cNvPr id="8" name="Picture 7">
            <a:extLst>
              <a:ext uri="{FF2B5EF4-FFF2-40B4-BE49-F238E27FC236}">
                <a16:creationId xmlns:a16="http://schemas.microsoft.com/office/drawing/2014/main" id="{FA4A7B8E-A204-ECD9-93EF-B4F56BE9F556}"/>
              </a:ext>
            </a:extLst>
          </p:cNvPr>
          <p:cNvPicPr>
            <a:picLocks noChangeAspect="1"/>
          </p:cNvPicPr>
          <p:nvPr/>
        </p:nvPicPr>
        <p:blipFill>
          <a:blip r:embed="rId3"/>
          <a:stretch>
            <a:fillRect/>
          </a:stretch>
        </p:blipFill>
        <p:spPr>
          <a:xfrm>
            <a:off x="6492206" y="788454"/>
            <a:ext cx="5563082" cy="4976291"/>
          </a:xfrm>
          <a:prstGeom prst="rect">
            <a:avLst/>
          </a:prstGeom>
        </p:spPr>
      </p:pic>
    </p:spTree>
    <p:extLst>
      <p:ext uri="{BB962C8B-B14F-4D97-AF65-F5344CB8AC3E}">
        <p14:creationId xmlns:p14="http://schemas.microsoft.com/office/powerpoint/2010/main" val="14571458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8BCB7-9BBF-BEF2-92C1-63118F298FEF}"/>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37F780A9-E88F-8810-002F-D4FC1E24797B}"/>
              </a:ext>
            </a:extLst>
          </p:cNvPr>
          <p:cNvSpPr>
            <a:spLocks noGrp="1"/>
          </p:cNvSpPr>
          <p:nvPr>
            <p:ph type="title"/>
          </p:nvPr>
        </p:nvSpPr>
        <p:spPr>
          <a:xfrm>
            <a:off x="0" y="0"/>
            <a:ext cx="8982635" cy="510988"/>
          </a:xfrm>
        </p:spPr>
        <p:txBody>
          <a:bodyPr/>
          <a:lstStyle/>
          <a:p>
            <a:r>
              <a:rPr lang="en-US" dirty="0">
                <a:solidFill>
                  <a:srgbClr val="002060"/>
                </a:solidFill>
              </a:rPr>
              <a:t>SLA </a:t>
            </a:r>
            <a:r>
              <a:rPr lang="en-US" sz="3200" dirty="0">
                <a:solidFill>
                  <a:srgbClr val="002060"/>
                </a:solidFill>
              </a:rPr>
              <a:t>Assignment</a:t>
            </a:r>
            <a:endParaRPr lang="en-US" dirty="0">
              <a:solidFill>
                <a:srgbClr val="002060"/>
              </a:solidFill>
            </a:endParaRPr>
          </a:p>
        </p:txBody>
      </p:sp>
      <p:sp>
        <p:nvSpPr>
          <p:cNvPr id="2" name="Slide Number Placeholder 1">
            <a:extLst>
              <a:ext uri="{FF2B5EF4-FFF2-40B4-BE49-F238E27FC236}">
                <a16:creationId xmlns:a16="http://schemas.microsoft.com/office/drawing/2014/main" id="{3A206558-3637-E48A-1A9B-7D3002F4A0FF}"/>
              </a:ext>
            </a:extLst>
          </p:cNvPr>
          <p:cNvSpPr>
            <a:spLocks noGrp="1"/>
          </p:cNvSpPr>
          <p:nvPr>
            <p:ph type="sldNum" sz="quarter" idx="4"/>
          </p:nvPr>
        </p:nvSpPr>
        <p:spPr>
          <a:xfrm>
            <a:off x="11842382" y="6571131"/>
            <a:ext cx="352134" cy="258362"/>
          </a:xfrm>
        </p:spPr>
        <p:txBody>
          <a:bodyPr/>
          <a:lstStyle/>
          <a:p>
            <a:fld id="{58FB4751-880F-D840-AAA9-3A15815CC996}" type="slidenum">
              <a:rPr lang="en-US" sz="1200" smtClean="0"/>
              <a:pPr/>
              <a:t>11</a:t>
            </a:fld>
            <a:endParaRPr lang="en-US" sz="1200" dirty="0"/>
          </a:p>
        </p:txBody>
      </p:sp>
      <p:sp>
        <p:nvSpPr>
          <p:cNvPr id="9" name="TextBox 8">
            <a:extLst>
              <a:ext uri="{FF2B5EF4-FFF2-40B4-BE49-F238E27FC236}">
                <a16:creationId xmlns:a16="http://schemas.microsoft.com/office/drawing/2014/main" id="{BC55276E-E694-2114-ABFF-D318CBD3456F}"/>
              </a:ext>
            </a:extLst>
          </p:cNvPr>
          <p:cNvSpPr txBox="1"/>
          <p:nvPr/>
        </p:nvSpPr>
        <p:spPr>
          <a:xfrm>
            <a:off x="-1" y="599746"/>
            <a:ext cx="8982635" cy="523220"/>
          </a:xfrm>
          <a:prstGeom prst="rect">
            <a:avLst/>
          </a:prstGeom>
          <a:noFill/>
        </p:spPr>
        <p:txBody>
          <a:bodyPr wrap="square">
            <a:spAutoFit/>
          </a:bodyPr>
          <a:lstStyle/>
          <a:p>
            <a:r>
              <a:rPr lang="en-US" sz="2800" b="1" dirty="0">
                <a:solidFill>
                  <a:schemeClr val="accent1">
                    <a:lumMod val="50000"/>
                  </a:schemeClr>
                </a:solidFill>
              </a:rPr>
              <a:t>Step 6: Feature Engineering for Machine Learning Models</a:t>
            </a:r>
          </a:p>
        </p:txBody>
      </p:sp>
      <p:sp>
        <p:nvSpPr>
          <p:cNvPr id="4" name="TextBox 3">
            <a:extLst>
              <a:ext uri="{FF2B5EF4-FFF2-40B4-BE49-F238E27FC236}">
                <a16:creationId xmlns:a16="http://schemas.microsoft.com/office/drawing/2014/main" id="{C1538F5F-7844-7666-7764-2BD3173C4283}"/>
              </a:ext>
            </a:extLst>
          </p:cNvPr>
          <p:cNvSpPr txBox="1"/>
          <p:nvPr/>
        </p:nvSpPr>
        <p:spPr>
          <a:xfrm>
            <a:off x="136712" y="1178048"/>
            <a:ext cx="6172200" cy="2677656"/>
          </a:xfrm>
          <a:prstGeom prst="rect">
            <a:avLst/>
          </a:prstGeom>
          <a:noFill/>
        </p:spPr>
        <p:txBody>
          <a:bodyPr wrap="square">
            <a:spAutoFit/>
          </a:bodyPr>
          <a:lstStyle/>
          <a:p>
            <a:pPr marL="285750" indent="-285750">
              <a:buFont typeface="Arial" panose="020B0604020202020204" pitchFamily="34" charset="0"/>
              <a:buChar char="•"/>
            </a:pPr>
            <a:r>
              <a:rPr lang="en-US" sz="1400" dirty="0">
                <a:solidFill>
                  <a:schemeClr val="tx1">
                    <a:lumMod val="75000"/>
                  </a:schemeClr>
                </a:solidFill>
              </a:rPr>
              <a:t>In this Step, Prepare the data for machine learning models (Random Forest Model) by creating time-based and lag features:</a:t>
            </a:r>
          </a:p>
          <a:p>
            <a:pPr marL="285750" indent="-285750">
              <a:buFont typeface="Arial" panose="020B0604020202020204" pitchFamily="34" charset="0"/>
              <a:buChar char="•"/>
            </a:pPr>
            <a:endParaRPr lang="en-US" sz="1400" dirty="0">
              <a:solidFill>
                <a:schemeClr val="tx1">
                  <a:lumMod val="75000"/>
                </a:schemeClr>
              </a:solidFill>
            </a:endParaRPr>
          </a:p>
          <a:p>
            <a:pPr marL="285750" indent="-285750">
              <a:buFont typeface="Arial" panose="020B0604020202020204" pitchFamily="34" charset="0"/>
              <a:buChar char="•"/>
            </a:pPr>
            <a:r>
              <a:rPr lang="en-US" sz="1400" dirty="0">
                <a:solidFill>
                  <a:schemeClr val="tx1">
                    <a:lumMod val="75000"/>
                  </a:schemeClr>
                </a:solidFill>
              </a:rPr>
              <a:t>Selects 'date' and 'ALL' (renamed to 'occupancy') from </a:t>
            </a:r>
            <a:r>
              <a:rPr lang="en-US" sz="1400" dirty="0" err="1">
                <a:solidFill>
                  <a:schemeClr val="tx1">
                    <a:lumMod val="75000"/>
                  </a:schemeClr>
                </a:solidFill>
              </a:rPr>
              <a:t>all_wards_ts</a:t>
            </a:r>
            <a:r>
              <a:rPr lang="en-US" sz="1400" dirty="0">
                <a:solidFill>
                  <a:schemeClr val="tx1">
                    <a:lumMod val="75000"/>
                  </a:schemeClr>
                </a:solidFill>
              </a:rPr>
              <a:t>.</a:t>
            </a:r>
          </a:p>
          <a:p>
            <a:pPr marL="285750" indent="-285750">
              <a:buFont typeface="Arial" panose="020B0604020202020204" pitchFamily="34" charset="0"/>
              <a:buChar char="•"/>
            </a:pPr>
            <a:r>
              <a:rPr lang="en-US" sz="1400" dirty="0">
                <a:solidFill>
                  <a:schemeClr val="tx1">
                    <a:lumMod val="75000"/>
                  </a:schemeClr>
                </a:solidFill>
              </a:rPr>
              <a:t>Converts 'date' to datetime and sorts the data.</a:t>
            </a:r>
          </a:p>
          <a:p>
            <a:pPr marL="285750" indent="-285750">
              <a:buFont typeface="Arial" panose="020B0604020202020204" pitchFamily="34" charset="0"/>
              <a:buChar char="•"/>
            </a:pPr>
            <a:r>
              <a:rPr lang="en-US" sz="1400" dirty="0">
                <a:solidFill>
                  <a:schemeClr val="tx1">
                    <a:lumMod val="75000"/>
                  </a:schemeClr>
                </a:solidFill>
              </a:rPr>
              <a:t>Creates </a:t>
            </a:r>
            <a:r>
              <a:rPr lang="en-US" sz="1400" dirty="0" err="1">
                <a:solidFill>
                  <a:schemeClr val="tx1">
                    <a:lumMod val="75000"/>
                  </a:schemeClr>
                </a:solidFill>
              </a:rPr>
              <a:t>dayofweek</a:t>
            </a:r>
            <a:r>
              <a:rPr lang="en-US" sz="1400" dirty="0">
                <a:solidFill>
                  <a:schemeClr val="tx1">
                    <a:lumMod val="75000"/>
                  </a:schemeClr>
                </a:solidFill>
              </a:rPr>
              <a:t> and month features from the date.</a:t>
            </a:r>
          </a:p>
          <a:p>
            <a:pPr marL="285750" indent="-285750">
              <a:buFont typeface="Arial" panose="020B0604020202020204" pitchFamily="34" charset="0"/>
              <a:buChar char="•"/>
            </a:pPr>
            <a:r>
              <a:rPr lang="en-US" sz="1400" dirty="0">
                <a:solidFill>
                  <a:schemeClr val="tx1">
                    <a:lumMod val="75000"/>
                  </a:schemeClr>
                </a:solidFill>
              </a:rPr>
              <a:t>Creates lag1 (previous day's occupancy) and lag7 (occupancy from 7 days ago) features using the .shift() method.</a:t>
            </a:r>
          </a:p>
          <a:p>
            <a:pPr marL="285750" indent="-285750">
              <a:buFont typeface="Arial" panose="020B0604020202020204" pitchFamily="34" charset="0"/>
              <a:buChar char="•"/>
            </a:pPr>
            <a:r>
              <a:rPr lang="en-US" sz="1400" dirty="0">
                <a:solidFill>
                  <a:schemeClr val="tx1">
                    <a:lumMod val="75000"/>
                  </a:schemeClr>
                </a:solidFill>
              </a:rPr>
              <a:t>Removes rows with </a:t>
            </a:r>
            <a:r>
              <a:rPr lang="en-US" sz="1400" dirty="0" err="1">
                <a:solidFill>
                  <a:schemeClr val="tx1">
                    <a:lumMod val="75000"/>
                  </a:schemeClr>
                </a:solidFill>
              </a:rPr>
              <a:t>NaN</a:t>
            </a:r>
            <a:r>
              <a:rPr lang="en-US" sz="1400" dirty="0">
                <a:solidFill>
                  <a:schemeClr val="tx1">
                    <a:lumMod val="75000"/>
                  </a:schemeClr>
                </a:solidFill>
              </a:rPr>
              <a:t> values introduced by the lag features at the beginning of the time series.</a:t>
            </a:r>
          </a:p>
          <a:p>
            <a:pPr marL="285750" indent="-285750">
              <a:buFont typeface="Arial" panose="020B0604020202020204" pitchFamily="34" charset="0"/>
              <a:buChar char="•"/>
            </a:pPr>
            <a:r>
              <a:rPr lang="en-US" sz="1400" dirty="0">
                <a:solidFill>
                  <a:schemeClr val="tx1">
                    <a:lumMod val="75000"/>
                  </a:schemeClr>
                </a:solidFill>
              </a:rPr>
              <a:t>These features provide temporal information and historical context for the models.</a:t>
            </a:r>
          </a:p>
        </p:txBody>
      </p:sp>
      <p:pic>
        <p:nvPicPr>
          <p:cNvPr id="5" name="Picture 4">
            <a:extLst>
              <a:ext uri="{FF2B5EF4-FFF2-40B4-BE49-F238E27FC236}">
                <a16:creationId xmlns:a16="http://schemas.microsoft.com/office/drawing/2014/main" id="{E33C7EAE-4220-9D31-B183-6BE0915824AB}"/>
              </a:ext>
            </a:extLst>
          </p:cNvPr>
          <p:cNvPicPr>
            <a:picLocks noChangeAspect="1"/>
          </p:cNvPicPr>
          <p:nvPr/>
        </p:nvPicPr>
        <p:blipFill>
          <a:blip r:embed="rId3"/>
          <a:stretch>
            <a:fillRect/>
          </a:stretch>
        </p:blipFill>
        <p:spPr>
          <a:xfrm>
            <a:off x="7452882" y="1710547"/>
            <a:ext cx="4389500" cy="3284505"/>
          </a:xfrm>
          <a:prstGeom prst="rect">
            <a:avLst/>
          </a:prstGeom>
        </p:spPr>
      </p:pic>
    </p:spTree>
    <p:extLst>
      <p:ext uri="{BB962C8B-B14F-4D97-AF65-F5344CB8AC3E}">
        <p14:creationId xmlns:p14="http://schemas.microsoft.com/office/powerpoint/2010/main" val="772185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76440-79C2-B3C2-F489-0391850D23C0}"/>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72DB873F-9FC7-D0D9-EBEA-426A9A13130A}"/>
              </a:ext>
            </a:extLst>
          </p:cNvPr>
          <p:cNvSpPr>
            <a:spLocks noGrp="1"/>
          </p:cNvSpPr>
          <p:nvPr>
            <p:ph type="title"/>
          </p:nvPr>
        </p:nvSpPr>
        <p:spPr>
          <a:xfrm>
            <a:off x="0" y="0"/>
            <a:ext cx="8982635" cy="510988"/>
          </a:xfrm>
        </p:spPr>
        <p:txBody>
          <a:bodyPr/>
          <a:lstStyle/>
          <a:p>
            <a:r>
              <a:rPr lang="en-US" dirty="0">
                <a:solidFill>
                  <a:srgbClr val="002060"/>
                </a:solidFill>
              </a:rPr>
              <a:t>SLA </a:t>
            </a:r>
            <a:r>
              <a:rPr lang="en-US" sz="3200" dirty="0">
                <a:solidFill>
                  <a:srgbClr val="002060"/>
                </a:solidFill>
              </a:rPr>
              <a:t>Assignment</a:t>
            </a:r>
            <a:endParaRPr lang="en-US" dirty="0">
              <a:solidFill>
                <a:srgbClr val="002060"/>
              </a:solidFill>
            </a:endParaRPr>
          </a:p>
        </p:txBody>
      </p:sp>
      <p:sp>
        <p:nvSpPr>
          <p:cNvPr id="2" name="Slide Number Placeholder 1">
            <a:extLst>
              <a:ext uri="{FF2B5EF4-FFF2-40B4-BE49-F238E27FC236}">
                <a16:creationId xmlns:a16="http://schemas.microsoft.com/office/drawing/2014/main" id="{06093412-8C66-4735-7EB5-200607F6681E}"/>
              </a:ext>
            </a:extLst>
          </p:cNvPr>
          <p:cNvSpPr>
            <a:spLocks noGrp="1"/>
          </p:cNvSpPr>
          <p:nvPr>
            <p:ph type="sldNum" sz="quarter" idx="4"/>
          </p:nvPr>
        </p:nvSpPr>
        <p:spPr>
          <a:xfrm>
            <a:off x="11842382" y="6571131"/>
            <a:ext cx="352134" cy="258362"/>
          </a:xfrm>
        </p:spPr>
        <p:txBody>
          <a:bodyPr/>
          <a:lstStyle/>
          <a:p>
            <a:fld id="{58FB4751-880F-D840-AAA9-3A15815CC996}" type="slidenum">
              <a:rPr lang="en-US" sz="1200" smtClean="0"/>
              <a:pPr/>
              <a:t>12</a:t>
            </a:fld>
            <a:endParaRPr lang="en-US" sz="1200" dirty="0"/>
          </a:p>
        </p:txBody>
      </p:sp>
      <p:sp>
        <p:nvSpPr>
          <p:cNvPr id="9" name="TextBox 8">
            <a:extLst>
              <a:ext uri="{FF2B5EF4-FFF2-40B4-BE49-F238E27FC236}">
                <a16:creationId xmlns:a16="http://schemas.microsoft.com/office/drawing/2014/main" id="{BECCCBA8-69BB-E5A0-6666-DEB2254F9456}"/>
              </a:ext>
            </a:extLst>
          </p:cNvPr>
          <p:cNvSpPr txBox="1"/>
          <p:nvPr/>
        </p:nvSpPr>
        <p:spPr>
          <a:xfrm>
            <a:off x="-1" y="599746"/>
            <a:ext cx="8982635" cy="523220"/>
          </a:xfrm>
          <a:prstGeom prst="rect">
            <a:avLst/>
          </a:prstGeom>
          <a:noFill/>
        </p:spPr>
        <p:txBody>
          <a:bodyPr wrap="square">
            <a:spAutoFit/>
          </a:bodyPr>
          <a:lstStyle/>
          <a:p>
            <a:r>
              <a:rPr lang="en-US" sz="2800" b="1" dirty="0">
                <a:solidFill>
                  <a:schemeClr val="accent1">
                    <a:lumMod val="50000"/>
                  </a:schemeClr>
                </a:solidFill>
              </a:rPr>
              <a:t>Step 7: Random Forest Model</a:t>
            </a:r>
          </a:p>
        </p:txBody>
      </p:sp>
      <p:sp>
        <p:nvSpPr>
          <p:cNvPr id="4" name="TextBox 3">
            <a:extLst>
              <a:ext uri="{FF2B5EF4-FFF2-40B4-BE49-F238E27FC236}">
                <a16:creationId xmlns:a16="http://schemas.microsoft.com/office/drawing/2014/main" id="{2EDB77A8-A2A9-30DE-6A8C-5218015AB18F}"/>
              </a:ext>
            </a:extLst>
          </p:cNvPr>
          <p:cNvSpPr txBox="1"/>
          <p:nvPr/>
        </p:nvSpPr>
        <p:spPr>
          <a:xfrm>
            <a:off x="136712" y="1178048"/>
            <a:ext cx="6172200" cy="3539430"/>
          </a:xfrm>
          <a:prstGeom prst="rect">
            <a:avLst/>
          </a:prstGeom>
          <a:noFill/>
        </p:spPr>
        <p:txBody>
          <a:bodyPr wrap="square">
            <a:spAutoFit/>
          </a:bodyPr>
          <a:lstStyle/>
          <a:p>
            <a:r>
              <a:rPr lang="en-US" sz="1400" b="1" dirty="0">
                <a:solidFill>
                  <a:srgbClr val="00B0F0"/>
                </a:solidFill>
              </a:rPr>
              <a:t>Random Forest Model Code Explanation</a:t>
            </a:r>
          </a:p>
          <a:p>
            <a:pPr marL="342900" indent="-342900">
              <a:buFont typeface="Arial" panose="020B0604020202020204" pitchFamily="34" charset="0"/>
              <a:buChar char="•"/>
            </a:pPr>
            <a:r>
              <a:rPr lang="en-US" sz="1400" dirty="0">
                <a:solidFill>
                  <a:schemeClr val="tx1">
                    <a:lumMod val="75000"/>
                  </a:schemeClr>
                </a:solidFill>
              </a:rPr>
              <a:t>In this step, we trains and evaluates a Random Forest Regressor model for ward occupancy forecasting:</a:t>
            </a:r>
          </a:p>
          <a:p>
            <a:pPr marL="342900" indent="-342900">
              <a:buFont typeface="Arial" panose="020B0604020202020204" pitchFamily="34" charset="0"/>
              <a:buChar char="•"/>
            </a:pPr>
            <a:r>
              <a:rPr lang="en-US" sz="1400" dirty="0">
                <a:solidFill>
                  <a:schemeClr val="tx1">
                    <a:lumMod val="75000"/>
                  </a:schemeClr>
                </a:solidFill>
              </a:rPr>
              <a:t>Define Features and Target:</a:t>
            </a:r>
          </a:p>
          <a:p>
            <a:pPr marL="800100" lvl="1" indent="-342900">
              <a:buFont typeface="Arial" panose="020B0604020202020204" pitchFamily="34" charset="0"/>
              <a:buChar char="•"/>
            </a:pPr>
            <a:r>
              <a:rPr lang="en-US" sz="1400" dirty="0">
                <a:solidFill>
                  <a:schemeClr val="tx1">
                    <a:lumMod val="75000"/>
                  </a:schemeClr>
                </a:solidFill>
              </a:rPr>
              <a:t>X: Contains the input features ('</a:t>
            </a:r>
            <a:r>
              <a:rPr lang="en-US" sz="1400" dirty="0" err="1">
                <a:solidFill>
                  <a:schemeClr val="tx1">
                    <a:lumMod val="75000"/>
                  </a:schemeClr>
                </a:solidFill>
              </a:rPr>
              <a:t>dayofweek</a:t>
            </a:r>
            <a:r>
              <a:rPr lang="en-US" sz="1400" dirty="0">
                <a:solidFill>
                  <a:schemeClr val="tx1">
                    <a:lumMod val="75000"/>
                  </a:schemeClr>
                </a:solidFill>
              </a:rPr>
              <a:t>', 'month', 'lag1', 'lag7').</a:t>
            </a:r>
          </a:p>
          <a:p>
            <a:pPr marL="800100" lvl="1" indent="-342900">
              <a:buFont typeface="Arial" panose="020B0604020202020204" pitchFamily="34" charset="0"/>
              <a:buChar char="•"/>
            </a:pPr>
            <a:r>
              <a:rPr lang="en-US" sz="1400" dirty="0">
                <a:solidFill>
                  <a:schemeClr val="tx1">
                    <a:lumMod val="75000"/>
                  </a:schemeClr>
                </a:solidFill>
              </a:rPr>
              <a:t>y: Contains the target variable ('occupancy').</a:t>
            </a:r>
          </a:p>
          <a:p>
            <a:pPr marL="342900" indent="-342900">
              <a:buFont typeface="Arial" panose="020B0604020202020204" pitchFamily="34" charset="0"/>
              <a:buChar char="•"/>
            </a:pPr>
            <a:r>
              <a:rPr lang="en-US" sz="1400" dirty="0">
                <a:solidFill>
                  <a:schemeClr val="tx1">
                    <a:lumMod val="75000"/>
                  </a:schemeClr>
                </a:solidFill>
              </a:rPr>
              <a:t>Split Data:</a:t>
            </a:r>
          </a:p>
          <a:p>
            <a:pPr marL="800100" lvl="1" indent="-342900">
              <a:buFont typeface="Arial" panose="020B0604020202020204" pitchFamily="34" charset="0"/>
              <a:buChar char="•"/>
            </a:pPr>
            <a:r>
              <a:rPr lang="en-US" sz="1400" dirty="0">
                <a:solidFill>
                  <a:schemeClr val="tx1">
                    <a:lumMod val="75000"/>
                  </a:schemeClr>
                </a:solidFill>
              </a:rPr>
              <a:t>Divides the data into training (80%) and testing (20%) sets using </a:t>
            </a:r>
            <a:r>
              <a:rPr lang="en-US" sz="1400" dirty="0" err="1">
                <a:solidFill>
                  <a:schemeClr val="tx1">
                    <a:lumMod val="75000"/>
                  </a:schemeClr>
                </a:solidFill>
              </a:rPr>
              <a:t>train_test_split</a:t>
            </a:r>
            <a:r>
              <a:rPr lang="en-US" sz="1400" dirty="0">
                <a:solidFill>
                  <a:schemeClr val="tx1">
                    <a:lumMod val="75000"/>
                  </a:schemeClr>
                </a:solidFill>
              </a:rPr>
              <a:t>.</a:t>
            </a:r>
          </a:p>
          <a:p>
            <a:pPr marL="342900" indent="-342900">
              <a:buFont typeface="Arial" panose="020B0604020202020204" pitchFamily="34" charset="0"/>
              <a:buChar char="•"/>
            </a:pPr>
            <a:r>
              <a:rPr lang="en-US" sz="1400" dirty="0">
                <a:solidFill>
                  <a:schemeClr val="tx1">
                    <a:lumMod val="75000"/>
                  </a:schemeClr>
                </a:solidFill>
              </a:rPr>
              <a:t>Initialize and Train Model:</a:t>
            </a:r>
          </a:p>
          <a:p>
            <a:pPr marL="800100" lvl="1" indent="-342900">
              <a:buFont typeface="Arial" panose="020B0604020202020204" pitchFamily="34" charset="0"/>
              <a:buChar char="•"/>
            </a:pPr>
            <a:r>
              <a:rPr lang="en-US" sz="1400" dirty="0">
                <a:solidFill>
                  <a:schemeClr val="tx1">
                    <a:lumMod val="75000"/>
                  </a:schemeClr>
                </a:solidFill>
              </a:rPr>
              <a:t>Creates a RandomForestRegressor instance with 200 estimators.</a:t>
            </a:r>
          </a:p>
          <a:p>
            <a:pPr marL="800100" lvl="1" indent="-342900">
              <a:buFont typeface="Arial" panose="020B0604020202020204" pitchFamily="34" charset="0"/>
              <a:buChar char="•"/>
            </a:pPr>
            <a:r>
              <a:rPr lang="en-US" sz="1400" dirty="0">
                <a:solidFill>
                  <a:schemeClr val="tx1">
                    <a:lumMod val="75000"/>
                  </a:schemeClr>
                </a:solidFill>
              </a:rPr>
              <a:t>Trains the model using the training data (</a:t>
            </a:r>
            <a:r>
              <a:rPr lang="en-US" sz="1400" dirty="0" err="1">
                <a:solidFill>
                  <a:schemeClr val="tx1">
                    <a:lumMod val="75000"/>
                  </a:schemeClr>
                </a:solidFill>
              </a:rPr>
              <a:t>X_train</a:t>
            </a:r>
            <a:r>
              <a:rPr lang="en-US" sz="1400" dirty="0">
                <a:solidFill>
                  <a:schemeClr val="tx1">
                    <a:lumMod val="75000"/>
                  </a:schemeClr>
                </a:solidFill>
              </a:rPr>
              <a:t>, </a:t>
            </a:r>
            <a:r>
              <a:rPr lang="en-US" sz="1400" dirty="0" err="1">
                <a:solidFill>
                  <a:schemeClr val="tx1">
                    <a:lumMod val="75000"/>
                  </a:schemeClr>
                </a:solidFill>
              </a:rPr>
              <a:t>y_train</a:t>
            </a:r>
            <a:r>
              <a:rPr lang="en-US" sz="1400" dirty="0">
                <a:solidFill>
                  <a:schemeClr val="tx1">
                    <a:lumMod val="75000"/>
                  </a:schemeClr>
                </a:solidFill>
              </a:rPr>
              <a:t>).</a:t>
            </a:r>
          </a:p>
          <a:p>
            <a:pPr marL="342900" indent="-342900">
              <a:buFont typeface="Arial" panose="020B0604020202020204" pitchFamily="34" charset="0"/>
              <a:buChar char="•"/>
            </a:pPr>
            <a:r>
              <a:rPr lang="en-US" sz="1400" dirty="0">
                <a:solidFill>
                  <a:schemeClr val="tx1">
                    <a:lumMod val="75000"/>
                  </a:schemeClr>
                </a:solidFill>
              </a:rPr>
              <a:t>Predict and Evaluate:</a:t>
            </a:r>
          </a:p>
          <a:p>
            <a:pPr marL="800100" lvl="1" indent="-342900">
              <a:buFont typeface="Arial" panose="020B0604020202020204" pitchFamily="34" charset="0"/>
              <a:buChar char="•"/>
            </a:pPr>
            <a:r>
              <a:rPr lang="en-US" sz="1400" dirty="0">
                <a:solidFill>
                  <a:schemeClr val="tx1">
                    <a:lumMod val="75000"/>
                  </a:schemeClr>
                </a:solidFill>
              </a:rPr>
              <a:t>Makes predictions on the test set (</a:t>
            </a:r>
            <a:r>
              <a:rPr lang="en-US" sz="1400" dirty="0" err="1">
                <a:solidFill>
                  <a:schemeClr val="tx1">
                    <a:lumMod val="75000"/>
                  </a:schemeClr>
                </a:solidFill>
              </a:rPr>
              <a:t>X_test</a:t>
            </a:r>
            <a:r>
              <a:rPr lang="en-US" sz="1400" dirty="0">
                <a:solidFill>
                  <a:schemeClr val="tx1">
                    <a:lumMod val="75000"/>
                  </a:schemeClr>
                </a:solidFill>
              </a:rPr>
              <a:t>).</a:t>
            </a:r>
          </a:p>
          <a:p>
            <a:pPr marL="800100" lvl="1" indent="-342900">
              <a:buFont typeface="Arial" panose="020B0604020202020204" pitchFamily="34" charset="0"/>
              <a:buChar char="•"/>
            </a:pPr>
            <a:r>
              <a:rPr lang="en-US" sz="1400" dirty="0">
                <a:solidFill>
                  <a:schemeClr val="tx1">
                    <a:lumMod val="75000"/>
                  </a:schemeClr>
                </a:solidFill>
              </a:rPr>
              <a:t>Calculates the Root Mean Squared Error (RMSE) between the actual (</a:t>
            </a:r>
            <a:r>
              <a:rPr lang="en-US" sz="1400" dirty="0" err="1">
                <a:solidFill>
                  <a:schemeClr val="tx1">
                    <a:lumMod val="75000"/>
                  </a:schemeClr>
                </a:solidFill>
              </a:rPr>
              <a:t>y_test</a:t>
            </a:r>
            <a:r>
              <a:rPr lang="en-US" sz="1400" dirty="0">
                <a:solidFill>
                  <a:schemeClr val="tx1">
                    <a:lumMod val="75000"/>
                  </a:schemeClr>
                </a:solidFill>
              </a:rPr>
              <a:t>) and predicted (</a:t>
            </a:r>
            <a:r>
              <a:rPr lang="en-US" sz="1400" dirty="0" err="1">
                <a:solidFill>
                  <a:schemeClr val="tx1">
                    <a:lumMod val="75000"/>
                  </a:schemeClr>
                </a:solidFill>
              </a:rPr>
              <a:t>y_pred</a:t>
            </a:r>
            <a:r>
              <a:rPr lang="en-US" sz="1400" dirty="0">
                <a:solidFill>
                  <a:schemeClr val="tx1">
                    <a:lumMod val="75000"/>
                  </a:schemeClr>
                </a:solidFill>
              </a:rPr>
              <a:t>) values to assess model performance.</a:t>
            </a:r>
          </a:p>
        </p:txBody>
      </p:sp>
    </p:spTree>
    <p:extLst>
      <p:ext uri="{BB962C8B-B14F-4D97-AF65-F5344CB8AC3E}">
        <p14:creationId xmlns:p14="http://schemas.microsoft.com/office/powerpoint/2010/main" val="970833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7B53B-9D5C-04F0-B82F-9956F67611B4}"/>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7C592808-E40F-6E5A-7E50-25C6CAD3A939}"/>
              </a:ext>
            </a:extLst>
          </p:cNvPr>
          <p:cNvSpPr>
            <a:spLocks noGrp="1"/>
          </p:cNvSpPr>
          <p:nvPr>
            <p:ph type="title"/>
          </p:nvPr>
        </p:nvSpPr>
        <p:spPr>
          <a:xfrm>
            <a:off x="0" y="0"/>
            <a:ext cx="8982635" cy="510988"/>
          </a:xfrm>
        </p:spPr>
        <p:txBody>
          <a:bodyPr/>
          <a:lstStyle/>
          <a:p>
            <a:r>
              <a:rPr lang="en-US" dirty="0">
                <a:solidFill>
                  <a:srgbClr val="002060"/>
                </a:solidFill>
              </a:rPr>
              <a:t>SLA </a:t>
            </a:r>
            <a:r>
              <a:rPr lang="en-US" sz="3200" dirty="0">
                <a:solidFill>
                  <a:srgbClr val="002060"/>
                </a:solidFill>
              </a:rPr>
              <a:t>Assignment</a:t>
            </a:r>
            <a:endParaRPr lang="en-US" dirty="0">
              <a:solidFill>
                <a:srgbClr val="002060"/>
              </a:solidFill>
            </a:endParaRPr>
          </a:p>
        </p:txBody>
      </p:sp>
      <p:sp>
        <p:nvSpPr>
          <p:cNvPr id="2" name="Slide Number Placeholder 1">
            <a:extLst>
              <a:ext uri="{FF2B5EF4-FFF2-40B4-BE49-F238E27FC236}">
                <a16:creationId xmlns:a16="http://schemas.microsoft.com/office/drawing/2014/main" id="{47489E88-B414-FB27-F86A-FBA8895C527E}"/>
              </a:ext>
            </a:extLst>
          </p:cNvPr>
          <p:cNvSpPr>
            <a:spLocks noGrp="1"/>
          </p:cNvSpPr>
          <p:nvPr>
            <p:ph type="sldNum" sz="quarter" idx="4"/>
          </p:nvPr>
        </p:nvSpPr>
        <p:spPr>
          <a:xfrm>
            <a:off x="11842382" y="6571131"/>
            <a:ext cx="352134" cy="258362"/>
          </a:xfrm>
        </p:spPr>
        <p:txBody>
          <a:bodyPr/>
          <a:lstStyle/>
          <a:p>
            <a:fld id="{58FB4751-880F-D840-AAA9-3A15815CC996}" type="slidenum">
              <a:rPr lang="en-US" sz="1200" smtClean="0"/>
              <a:pPr/>
              <a:t>13</a:t>
            </a:fld>
            <a:endParaRPr lang="en-US" sz="1200" dirty="0"/>
          </a:p>
        </p:txBody>
      </p:sp>
      <p:sp>
        <p:nvSpPr>
          <p:cNvPr id="9" name="TextBox 8">
            <a:extLst>
              <a:ext uri="{FF2B5EF4-FFF2-40B4-BE49-F238E27FC236}">
                <a16:creationId xmlns:a16="http://schemas.microsoft.com/office/drawing/2014/main" id="{12434146-E6FD-CE35-6088-2AE1C47D9841}"/>
              </a:ext>
            </a:extLst>
          </p:cNvPr>
          <p:cNvSpPr txBox="1"/>
          <p:nvPr/>
        </p:nvSpPr>
        <p:spPr>
          <a:xfrm>
            <a:off x="-1" y="599746"/>
            <a:ext cx="8982635" cy="523220"/>
          </a:xfrm>
          <a:prstGeom prst="rect">
            <a:avLst/>
          </a:prstGeom>
          <a:noFill/>
        </p:spPr>
        <p:txBody>
          <a:bodyPr wrap="square">
            <a:spAutoFit/>
          </a:bodyPr>
          <a:lstStyle/>
          <a:p>
            <a:r>
              <a:rPr lang="en-US" sz="2800" b="1" dirty="0">
                <a:solidFill>
                  <a:schemeClr val="accent1">
                    <a:lumMod val="50000"/>
                  </a:schemeClr>
                </a:solidFill>
              </a:rPr>
              <a:t>Step 7.1: Random Forest Model Training &amp; Evaluation</a:t>
            </a:r>
          </a:p>
        </p:txBody>
      </p:sp>
      <p:sp>
        <p:nvSpPr>
          <p:cNvPr id="4" name="TextBox 3">
            <a:extLst>
              <a:ext uri="{FF2B5EF4-FFF2-40B4-BE49-F238E27FC236}">
                <a16:creationId xmlns:a16="http://schemas.microsoft.com/office/drawing/2014/main" id="{926E998A-BC60-3DA4-F1C4-DD7F9CE9F336}"/>
              </a:ext>
            </a:extLst>
          </p:cNvPr>
          <p:cNvSpPr txBox="1"/>
          <p:nvPr/>
        </p:nvSpPr>
        <p:spPr>
          <a:xfrm>
            <a:off x="136712" y="1178048"/>
            <a:ext cx="6172200" cy="3323987"/>
          </a:xfrm>
          <a:prstGeom prst="rect">
            <a:avLst/>
          </a:prstGeom>
          <a:noFill/>
        </p:spPr>
        <p:txBody>
          <a:bodyPr wrap="square">
            <a:spAutoFit/>
          </a:bodyPr>
          <a:lstStyle/>
          <a:p>
            <a:r>
              <a:rPr lang="en-US" sz="1400" dirty="0"/>
              <a:t>The output Random Forest RMSE: 1.53 indicates the Root Mean Squared Error for the Random Forest model's predictions on the test set.</a:t>
            </a:r>
          </a:p>
          <a:p>
            <a:endParaRPr lang="en-US" sz="1400" b="1" dirty="0"/>
          </a:p>
          <a:p>
            <a:r>
              <a:rPr lang="en-US" sz="1400" b="1" dirty="0">
                <a:solidFill>
                  <a:srgbClr val="00B0F0"/>
                </a:solidFill>
              </a:rPr>
              <a:t>RMSE (Root Mean Squared Error):</a:t>
            </a:r>
            <a:r>
              <a:rPr lang="en-US" sz="1400" dirty="0">
                <a:solidFill>
                  <a:srgbClr val="00B0F0"/>
                </a:solidFill>
              </a:rPr>
              <a:t> </a:t>
            </a:r>
            <a:r>
              <a:rPr lang="en-US" sz="1400" dirty="0"/>
              <a:t>This is a common metric for evaluating regression models. It measures the average magnitude of the errors between the predicted values and the actual values.</a:t>
            </a:r>
          </a:p>
          <a:p>
            <a:endParaRPr lang="en-US" sz="1400" dirty="0"/>
          </a:p>
          <a:p>
            <a:r>
              <a:rPr lang="en-US" sz="1400" b="1" dirty="0">
                <a:solidFill>
                  <a:srgbClr val="00B0F0"/>
                </a:solidFill>
              </a:rPr>
              <a:t>Interpretation:</a:t>
            </a:r>
            <a:r>
              <a:rPr lang="en-US" sz="1400" dirty="0">
                <a:solidFill>
                  <a:srgbClr val="00B0F0"/>
                </a:solidFill>
              </a:rPr>
              <a:t> </a:t>
            </a:r>
          </a:p>
          <a:p>
            <a:pPr marL="285750" indent="-285750">
              <a:buFont typeface="Arial" panose="020B0604020202020204" pitchFamily="34" charset="0"/>
              <a:buChar char="•"/>
            </a:pPr>
            <a:r>
              <a:rPr lang="en-US" sz="1400" dirty="0"/>
              <a:t>An RMSE of 1.53 means that, on average, the Random Forest model's predictions for daily ward occupancy differ from the actual occupancy by approximately 1.53 patients.</a:t>
            </a:r>
          </a:p>
          <a:p>
            <a:pPr marL="285750" indent="-285750">
              <a:buFont typeface="Arial" panose="020B0604020202020204" pitchFamily="34" charset="0"/>
              <a:buChar char="•"/>
            </a:pPr>
            <a:r>
              <a:rPr lang="en-US" sz="1400" dirty="0"/>
              <a:t>A lower RMSE indicates better model performance. You can compare this value to the RMSE obtained from other models (like Prophet and </a:t>
            </a:r>
            <a:r>
              <a:rPr lang="en-US" sz="1400" dirty="0" err="1"/>
              <a:t>XGBoost</a:t>
            </a:r>
            <a:r>
              <a:rPr lang="en-US" sz="1400" dirty="0"/>
              <a:t>) to determine which model provides a more accurate forecast for this specific problem.</a:t>
            </a:r>
          </a:p>
        </p:txBody>
      </p:sp>
      <p:pic>
        <p:nvPicPr>
          <p:cNvPr id="10" name="Picture 9">
            <a:extLst>
              <a:ext uri="{FF2B5EF4-FFF2-40B4-BE49-F238E27FC236}">
                <a16:creationId xmlns:a16="http://schemas.microsoft.com/office/drawing/2014/main" id="{5824D7AA-97A9-D6B7-C0AD-9B4466AB4570}"/>
              </a:ext>
            </a:extLst>
          </p:cNvPr>
          <p:cNvPicPr>
            <a:picLocks noChangeAspect="1"/>
          </p:cNvPicPr>
          <p:nvPr/>
        </p:nvPicPr>
        <p:blipFill>
          <a:blip r:embed="rId3"/>
          <a:stretch>
            <a:fillRect/>
          </a:stretch>
        </p:blipFill>
        <p:spPr>
          <a:xfrm>
            <a:off x="6398138" y="1176826"/>
            <a:ext cx="5527710" cy="4628625"/>
          </a:xfrm>
          <a:prstGeom prst="rect">
            <a:avLst/>
          </a:prstGeom>
        </p:spPr>
      </p:pic>
    </p:spTree>
    <p:extLst>
      <p:ext uri="{BB962C8B-B14F-4D97-AF65-F5344CB8AC3E}">
        <p14:creationId xmlns:p14="http://schemas.microsoft.com/office/powerpoint/2010/main" val="20971408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41270-C2A6-45DE-37E1-B46CC41AB190}"/>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EAEAC8C3-442A-D13B-D2A4-0CE7235CAC9B}"/>
              </a:ext>
            </a:extLst>
          </p:cNvPr>
          <p:cNvSpPr>
            <a:spLocks noGrp="1"/>
          </p:cNvSpPr>
          <p:nvPr>
            <p:ph type="title"/>
          </p:nvPr>
        </p:nvSpPr>
        <p:spPr>
          <a:xfrm>
            <a:off x="0" y="0"/>
            <a:ext cx="8982635" cy="510988"/>
          </a:xfrm>
        </p:spPr>
        <p:txBody>
          <a:bodyPr/>
          <a:lstStyle/>
          <a:p>
            <a:r>
              <a:rPr lang="en-US" dirty="0">
                <a:solidFill>
                  <a:srgbClr val="002060"/>
                </a:solidFill>
              </a:rPr>
              <a:t>SLA </a:t>
            </a:r>
            <a:r>
              <a:rPr lang="en-US" sz="3200" dirty="0">
                <a:solidFill>
                  <a:srgbClr val="002060"/>
                </a:solidFill>
              </a:rPr>
              <a:t>Assignment</a:t>
            </a:r>
            <a:endParaRPr lang="en-US" dirty="0">
              <a:solidFill>
                <a:srgbClr val="002060"/>
              </a:solidFill>
            </a:endParaRPr>
          </a:p>
        </p:txBody>
      </p:sp>
      <p:sp>
        <p:nvSpPr>
          <p:cNvPr id="2" name="Slide Number Placeholder 1">
            <a:extLst>
              <a:ext uri="{FF2B5EF4-FFF2-40B4-BE49-F238E27FC236}">
                <a16:creationId xmlns:a16="http://schemas.microsoft.com/office/drawing/2014/main" id="{BC8FE361-FC48-48D0-4851-5A251540B85F}"/>
              </a:ext>
            </a:extLst>
          </p:cNvPr>
          <p:cNvSpPr>
            <a:spLocks noGrp="1"/>
          </p:cNvSpPr>
          <p:nvPr>
            <p:ph type="sldNum" sz="quarter" idx="4"/>
          </p:nvPr>
        </p:nvSpPr>
        <p:spPr>
          <a:xfrm>
            <a:off x="11842382" y="6571131"/>
            <a:ext cx="352134" cy="258362"/>
          </a:xfrm>
        </p:spPr>
        <p:txBody>
          <a:bodyPr/>
          <a:lstStyle/>
          <a:p>
            <a:fld id="{58FB4751-880F-D840-AAA9-3A15815CC996}" type="slidenum">
              <a:rPr lang="en-US" sz="1200" smtClean="0"/>
              <a:pPr/>
              <a:t>14</a:t>
            </a:fld>
            <a:endParaRPr lang="en-US" sz="1200" dirty="0"/>
          </a:p>
        </p:txBody>
      </p:sp>
      <p:sp>
        <p:nvSpPr>
          <p:cNvPr id="9" name="TextBox 8">
            <a:extLst>
              <a:ext uri="{FF2B5EF4-FFF2-40B4-BE49-F238E27FC236}">
                <a16:creationId xmlns:a16="http://schemas.microsoft.com/office/drawing/2014/main" id="{4864B89A-51FD-491A-97F6-EF2657151376}"/>
              </a:ext>
            </a:extLst>
          </p:cNvPr>
          <p:cNvSpPr txBox="1"/>
          <p:nvPr/>
        </p:nvSpPr>
        <p:spPr>
          <a:xfrm>
            <a:off x="-1" y="599746"/>
            <a:ext cx="8982635" cy="523220"/>
          </a:xfrm>
          <a:prstGeom prst="rect">
            <a:avLst/>
          </a:prstGeom>
          <a:noFill/>
        </p:spPr>
        <p:txBody>
          <a:bodyPr wrap="square">
            <a:spAutoFit/>
          </a:bodyPr>
          <a:lstStyle/>
          <a:p>
            <a:r>
              <a:rPr lang="en-US" sz="2800" b="1" dirty="0">
                <a:solidFill>
                  <a:schemeClr val="accent1">
                    <a:lumMod val="50000"/>
                  </a:schemeClr>
                </a:solidFill>
              </a:rPr>
              <a:t>Step 7.2: Random Forest Model Output</a:t>
            </a:r>
          </a:p>
        </p:txBody>
      </p:sp>
      <p:sp>
        <p:nvSpPr>
          <p:cNvPr id="4" name="TextBox 3">
            <a:extLst>
              <a:ext uri="{FF2B5EF4-FFF2-40B4-BE49-F238E27FC236}">
                <a16:creationId xmlns:a16="http://schemas.microsoft.com/office/drawing/2014/main" id="{0116F93B-BDF2-5DD5-36C0-D0E924216508}"/>
              </a:ext>
            </a:extLst>
          </p:cNvPr>
          <p:cNvSpPr txBox="1"/>
          <p:nvPr/>
        </p:nvSpPr>
        <p:spPr>
          <a:xfrm>
            <a:off x="136712" y="1178048"/>
            <a:ext cx="6172200" cy="3323987"/>
          </a:xfrm>
          <a:prstGeom prst="rect">
            <a:avLst/>
          </a:prstGeom>
          <a:noFill/>
        </p:spPr>
        <p:txBody>
          <a:bodyPr wrap="square">
            <a:spAutoFit/>
          </a:bodyPr>
          <a:lstStyle/>
          <a:p>
            <a:pPr marL="285750" indent="-285750">
              <a:buFont typeface="Arial" panose="020B0604020202020204" pitchFamily="34" charset="0"/>
              <a:buChar char="•"/>
            </a:pPr>
            <a:r>
              <a:rPr lang="en-US" sz="1400" dirty="0"/>
              <a:t>The code generates a line plot to visualize the performance of the Random Forest model on a subset of the test data:</a:t>
            </a:r>
          </a:p>
          <a:p>
            <a:pPr marL="285750" indent="-285750">
              <a:buFont typeface="Arial" panose="020B0604020202020204" pitchFamily="34" charset="0"/>
              <a:buChar char="•"/>
            </a:pPr>
            <a:r>
              <a:rPr lang="en-US" sz="1400" dirty="0"/>
              <a:t>It plots the actual ward occupancy values (</a:t>
            </a:r>
            <a:r>
              <a:rPr lang="en-US" sz="1400" dirty="0" err="1"/>
              <a:t>y_test</a:t>
            </a:r>
            <a:r>
              <a:rPr lang="en-US" sz="1400" dirty="0"/>
              <a:t>) against the predicted values (</a:t>
            </a:r>
            <a:r>
              <a:rPr lang="en-US" sz="1400" dirty="0" err="1"/>
              <a:t>y_pred</a:t>
            </a:r>
            <a:r>
              <a:rPr lang="en-US" sz="1400" dirty="0"/>
              <a:t>) for the first 100 data points in the test set.</a:t>
            </a:r>
          </a:p>
          <a:p>
            <a:pPr marL="285750" indent="-285750">
              <a:buFont typeface="Arial" panose="020B0604020202020204" pitchFamily="34" charset="0"/>
              <a:buChar char="•"/>
            </a:pPr>
            <a:r>
              <a:rPr lang="en-US" sz="1400" dirty="0"/>
              <a:t>Markers ('o' for Actual, 'x' for Predicted) are used to distinguish the two lines.</a:t>
            </a:r>
          </a:p>
          <a:p>
            <a:pPr marL="285750" indent="-285750">
              <a:buFont typeface="Arial" panose="020B0604020202020204" pitchFamily="34" charset="0"/>
              <a:buChar char="•"/>
            </a:pPr>
            <a:r>
              <a:rPr lang="en-US" sz="1400" dirty="0"/>
              <a:t>A legend is included to identify the lines, and the plot is titled "MICU Occupancy Prediction (Random Forest)".</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600" b="1" dirty="0">
                <a:solidFill>
                  <a:srgbClr val="00B0F0"/>
                </a:solidFill>
              </a:rPr>
              <a:t>Interpretation:</a:t>
            </a:r>
          </a:p>
          <a:p>
            <a:pPr marL="285750" indent="-285750">
              <a:buFont typeface="Arial" panose="020B0604020202020204" pitchFamily="34" charset="0"/>
              <a:buChar char="•"/>
            </a:pPr>
            <a:r>
              <a:rPr lang="en-US" sz="1400" dirty="0"/>
              <a:t>The chart compares actual MICU occupancy (blue line with circles) vs predicted occupancy (orange line with crosses) for 100 test samples using Random Forest.</a:t>
            </a:r>
          </a:p>
          <a:p>
            <a:pPr marL="285750" indent="-285750">
              <a:buFont typeface="Arial" panose="020B0604020202020204" pitchFamily="34" charset="0"/>
              <a:buChar char="•"/>
            </a:pPr>
            <a:r>
              <a:rPr lang="en-US" sz="1400" dirty="0"/>
              <a:t>Actual values fluctuate sharply between 0 and 6 patients, showing high variability and frequent spikes.</a:t>
            </a:r>
          </a:p>
          <a:p>
            <a:pPr marL="285750" indent="-285750">
              <a:buFont typeface="Arial" panose="020B0604020202020204" pitchFamily="34" charset="0"/>
              <a:buChar char="•"/>
            </a:pPr>
            <a:r>
              <a:rPr lang="en-US" sz="1400" dirty="0"/>
              <a:t>Predicted values are smoother and generally stay between 0 and 5 patients, capturing some trends but missing extreme peaks.</a:t>
            </a:r>
          </a:p>
        </p:txBody>
      </p:sp>
      <p:pic>
        <p:nvPicPr>
          <p:cNvPr id="5" name="Picture 4">
            <a:extLst>
              <a:ext uri="{FF2B5EF4-FFF2-40B4-BE49-F238E27FC236}">
                <a16:creationId xmlns:a16="http://schemas.microsoft.com/office/drawing/2014/main" id="{D80C7200-86E7-0E24-5226-7E2682928B6A}"/>
              </a:ext>
            </a:extLst>
          </p:cNvPr>
          <p:cNvPicPr>
            <a:picLocks noChangeAspect="1"/>
          </p:cNvPicPr>
          <p:nvPr/>
        </p:nvPicPr>
        <p:blipFill>
          <a:blip r:embed="rId3"/>
          <a:stretch>
            <a:fillRect/>
          </a:stretch>
        </p:blipFill>
        <p:spPr>
          <a:xfrm>
            <a:off x="6610721" y="2656249"/>
            <a:ext cx="5344043" cy="2940926"/>
          </a:xfrm>
          <a:prstGeom prst="rect">
            <a:avLst/>
          </a:prstGeom>
        </p:spPr>
      </p:pic>
      <p:pic>
        <p:nvPicPr>
          <p:cNvPr id="7" name="Picture 6">
            <a:extLst>
              <a:ext uri="{FF2B5EF4-FFF2-40B4-BE49-F238E27FC236}">
                <a16:creationId xmlns:a16="http://schemas.microsoft.com/office/drawing/2014/main" id="{17F7D046-4040-4127-BE62-931477B67889}"/>
              </a:ext>
            </a:extLst>
          </p:cNvPr>
          <p:cNvPicPr>
            <a:picLocks noChangeAspect="1"/>
          </p:cNvPicPr>
          <p:nvPr/>
        </p:nvPicPr>
        <p:blipFill>
          <a:blip r:embed="rId4"/>
          <a:stretch>
            <a:fillRect/>
          </a:stretch>
        </p:blipFill>
        <p:spPr>
          <a:xfrm>
            <a:off x="6800850" y="861356"/>
            <a:ext cx="5153914" cy="1265536"/>
          </a:xfrm>
          <a:prstGeom prst="rect">
            <a:avLst/>
          </a:prstGeom>
        </p:spPr>
      </p:pic>
    </p:spTree>
    <p:extLst>
      <p:ext uri="{BB962C8B-B14F-4D97-AF65-F5344CB8AC3E}">
        <p14:creationId xmlns:p14="http://schemas.microsoft.com/office/powerpoint/2010/main" val="14033090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649AB-A714-2199-9658-0899452D78F8}"/>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9D9491F0-5D0A-D54A-1CF3-A992A1DD2F5B}"/>
              </a:ext>
            </a:extLst>
          </p:cNvPr>
          <p:cNvSpPr>
            <a:spLocks noGrp="1"/>
          </p:cNvSpPr>
          <p:nvPr>
            <p:ph type="title"/>
          </p:nvPr>
        </p:nvSpPr>
        <p:spPr>
          <a:xfrm>
            <a:off x="0" y="0"/>
            <a:ext cx="8982635" cy="510988"/>
          </a:xfrm>
        </p:spPr>
        <p:txBody>
          <a:bodyPr/>
          <a:lstStyle/>
          <a:p>
            <a:r>
              <a:rPr lang="en-US" dirty="0">
                <a:solidFill>
                  <a:srgbClr val="002060"/>
                </a:solidFill>
              </a:rPr>
              <a:t>SLA </a:t>
            </a:r>
            <a:r>
              <a:rPr lang="en-US" sz="3200" dirty="0">
                <a:solidFill>
                  <a:srgbClr val="002060"/>
                </a:solidFill>
              </a:rPr>
              <a:t>Assignment</a:t>
            </a:r>
            <a:endParaRPr lang="en-US" dirty="0">
              <a:solidFill>
                <a:srgbClr val="002060"/>
              </a:solidFill>
            </a:endParaRPr>
          </a:p>
        </p:txBody>
      </p:sp>
      <p:sp>
        <p:nvSpPr>
          <p:cNvPr id="2" name="Slide Number Placeholder 1">
            <a:extLst>
              <a:ext uri="{FF2B5EF4-FFF2-40B4-BE49-F238E27FC236}">
                <a16:creationId xmlns:a16="http://schemas.microsoft.com/office/drawing/2014/main" id="{E4D48DDA-F54D-E88A-4413-BBCD96A9BAA1}"/>
              </a:ext>
            </a:extLst>
          </p:cNvPr>
          <p:cNvSpPr>
            <a:spLocks noGrp="1"/>
          </p:cNvSpPr>
          <p:nvPr>
            <p:ph type="sldNum" sz="quarter" idx="4"/>
          </p:nvPr>
        </p:nvSpPr>
        <p:spPr>
          <a:xfrm>
            <a:off x="11842382" y="6571131"/>
            <a:ext cx="352134" cy="258362"/>
          </a:xfrm>
        </p:spPr>
        <p:txBody>
          <a:bodyPr/>
          <a:lstStyle/>
          <a:p>
            <a:fld id="{58FB4751-880F-D840-AAA9-3A15815CC996}" type="slidenum">
              <a:rPr lang="en-US" sz="1200" smtClean="0"/>
              <a:pPr/>
              <a:t>15</a:t>
            </a:fld>
            <a:endParaRPr lang="en-US" sz="1200" dirty="0"/>
          </a:p>
        </p:txBody>
      </p:sp>
      <p:sp>
        <p:nvSpPr>
          <p:cNvPr id="9" name="TextBox 8">
            <a:extLst>
              <a:ext uri="{FF2B5EF4-FFF2-40B4-BE49-F238E27FC236}">
                <a16:creationId xmlns:a16="http://schemas.microsoft.com/office/drawing/2014/main" id="{84232CD1-E398-0BD8-9FD6-20B50B5259EF}"/>
              </a:ext>
            </a:extLst>
          </p:cNvPr>
          <p:cNvSpPr txBox="1"/>
          <p:nvPr/>
        </p:nvSpPr>
        <p:spPr>
          <a:xfrm>
            <a:off x="-1" y="599746"/>
            <a:ext cx="8982635" cy="523220"/>
          </a:xfrm>
          <a:prstGeom prst="rect">
            <a:avLst/>
          </a:prstGeom>
          <a:noFill/>
        </p:spPr>
        <p:txBody>
          <a:bodyPr wrap="square">
            <a:spAutoFit/>
          </a:bodyPr>
          <a:lstStyle/>
          <a:p>
            <a:r>
              <a:rPr lang="en-US" sz="2800" b="1" dirty="0">
                <a:solidFill>
                  <a:schemeClr val="accent1">
                    <a:lumMod val="50000"/>
                  </a:schemeClr>
                </a:solidFill>
              </a:rPr>
              <a:t>Step 7.3: Random Forest Model –Feature Importance</a:t>
            </a:r>
          </a:p>
        </p:txBody>
      </p:sp>
      <p:sp>
        <p:nvSpPr>
          <p:cNvPr id="4" name="TextBox 3">
            <a:extLst>
              <a:ext uri="{FF2B5EF4-FFF2-40B4-BE49-F238E27FC236}">
                <a16:creationId xmlns:a16="http://schemas.microsoft.com/office/drawing/2014/main" id="{8A38CC65-CAB0-5611-89B9-04BAAB4DA563}"/>
              </a:ext>
            </a:extLst>
          </p:cNvPr>
          <p:cNvSpPr txBox="1"/>
          <p:nvPr/>
        </p:nvSpPr>
        <p:spPr>
          <a:xfrm>
            <a:off x="136712" y="1178048"/>
            <a:ext cx="6172200" cy="3323987"/>
          </a:xfrm>
          <a:prstGeom prst="rect">
            <a:avLst/>
          </a:prstGeom>
          <a:noFill/>
        </p:spPr>
        <p:txBody>
          <a:bodyPr wrap="square">
            <a:spAutoFit/>
          </a:bodyPr>
          <a:lstStyle/>
          <a:p>
            <a:r>
              <a:rPr lang="en-US" sz="1400" dirty="0" err="1"/>
              <a:t>Tbar</a:t>
            </a:r>
            <a:r>
              <a:rPr lang="en-US" sz="1400" dirty="0"/>
              <a:t> chart displays feature importance from the trained Random Forest model for MICU occupancy prediction.</a:t>
            </a:r>
          </a:p>
          <a:p>
            <a:endParaRPr lang="en-US" sz="1400" b="1" dirty="0"/>
          </a:p>
          <a:p>
            <a:r>
              <a:rPr lang="en-US" sz="1400" b="1" dirty="0">
                <a:solidFill>
                  <a:srgbClr val="00B0F0"/>
                </a:solidFill>
              </a:rPr>
              <a:t>Features analyzed:</a:t>
            </a:r>
            <a:endParaRPr lang="en-US" sz="1400" dirty="0">
              <a:solidFill>
                <a:srgbClr val="00B0F0"/>
              </a:solidFill>
            </a:endParaRPr>
          </a:p>
          <a:p>
            <a:pPr marL="285750" indent="-285750">
              <a:buFont typeface="Arial" panose="020B0604020202020204" pitchFamily="34" charset="0"/>
              <a:buChar char="•"/>
            </a:pPr>
            <a:r>
              <a:rPr lang="en-US" sz="1400" dirty="0"/>
              <a:t>lag1 (previous day occupancy)</a:t>
            </a:r>
          </a:p>
          <a:p>
            <a:pPr marL="285750" indent="-285750">
              <a:buFont typeface="Arial" panose="020B0604020202020204" pitchFamily="34" charset="0"/>
              <a:buChar char="•"/>
            </a:pPr>
            <a:r>
              <a:rPr lang="en-US" sz="1400" dirty="0"/>
              <a:t>lag7 (previous week occupancy)</a:t>
            </a:r>
          </a:p>
          <a:p>
            <a:pPr marL="285750" indent="-285750">
              <a:buFont typeface="Arial" panose="020B0604020202020204" pitchFamily="34" charset="0"/>
              <a:buChar char="•"/>
            </a:pPr>
            <a:r>
              <a:rPr lang="en-US" sz="1400" dirty="0"/>
              <a:t>month</a:t>
            </a:r>
          </a:p>
          <a:p>
            <a:pPr marL="285750" indent="-285750">
              <a:buFont typeface="Arial" panose="020B0604020202020204" pitchFamily="34" charset="0"/>
              <a:buChar char="•"/>
            </a:pPr>
            <a:r>
              <a:rPr lang="en-US" sz="1400" dirty="0" err="1"/>
              <a:t>Dayofweek</a:t>
            </a:r>
            <a:endParaRPr lang="en-US" sz="1400" dirty="0"/>
          </a:p>
          <a:p>
            <a:pPr marL="285750" indent="-285750">
              <a:buFont typeface="Arial" panose="020B0604020202020204" pitchFamily="34" charset="0"/>
              <a:buChar char="•"/>
            </a:pPr>
            <a:endParaRPr lang="en-US" sz="1400" dirty="0"/>
          </a:p>
          <a:p>
            <a:r>
              <a:rPr lang="en-US" sz="1400" b="1" dirty="0">
                <a:solidFill>
                  <a:srgbClr val="00B0F0"/>
                </a:solidFill>
              </a:rPr>
              <a:t>Interpretation of Feature Importance:</a:t>
            </a:r>
            <a:endParaRPr lang="en-US" sz="1400" dirty="0">
              <a:solidFill>
                <a:srgbClr val="00B0F0"/>
              </a:solidFill>
            </a:endParaRPr>
          </a:p>
          <a:p>
            <a:pPr marL="285750" indent="-285750">
              <a:buFont typeface="Arial" panose="020B0604020202020204" pitchFamily="34" charset="0"/>
              <a:buChar char="•"/>
            </a:pPr>
            <a:r>
              <a:rPr lang="en-US" sz="1400" dirty="0"/>
              <a:t>lag1 is the most important feature (~0.30), meaning yesterday’s occupancy strongly influences today’s occupancy.</a:t>
            </a:r>
          </a:p>
          <a:p>
            <a:pPr marL="285750" indent="-285750">
              <a:buFont typeface="Arial" panose="020B0604020202020204" pitchFamily="34" charset="0"/>
              <a:buChar char="•"/>
            </a:pPr>
            <a:r>
              <a:rPr lang="en-US" sz="1400" dirty="0"/>
              <a:t>lag7 is the second most important (~0.25), indicating weekly patterns matter.</a:t>
            </a:r>
          </a:p>
          <a:p>
            <a:pPr marL="285750" indent="-285750">
              <a:buFont typeface="Arial" panose="020B0604020202020204" pitchFamily="34" charset="0"/>
              <a:buChar char="•"/>
            </a:pPr>
            <a:r>
              <a:rPr lang="en-US" sz="1400" dirty="0"/>
              <a:t>month and </a:t>
            </a:r>
            <a:r>
              <a:rPr lang="en-US" sz="1400" dirty="0" err="1"/>
              <a:t>dayofweek</a:t>
            </a:r>
            <a:r>
              <a:rPr lang="en-US" sz="1400" dirty="0"/>
              <a:t> have similar importance (~0.20 each), showing seasonal and weekly trends also contribute but less than lag features.</a:t>
            </a:r>
          </a:p>
        </p:txBody>
      </p:sp>
      <p:pic>
        <p:nvPicPr>
          <p:cNvPr id="6" name="Picture 5">
            <a:extLst>
              <a:ext uri="{FF2B5EF4-FFF2-40B4-BE49-F238E27FC236}">
                <a16:creationId xmlns:a16="http://schemas.microsoft.com/office/drawing/2014/main" id="{066FD62F-507C-B46F-910C-54C33E47D447}"/>
              </a:ext>
            </a:extLst>
          </p:cNvPr>
          <p:cNvPicPr>
            <a:picLocks noChangeAspect="1"/>
          </p:cNvPicPr>
          <p:nvPr/>
        </p:nvPicPr>
        <p:blipFill>
          <a:blip r:embed="rId3"/>
          <a:stretch>
            <a:fillRect/>
          </a:stretch>
        </p:blipFill>
        <p:spPr>
          <a:xfrm>
            <a:off x="6556007" y="1504950"/>
            <a:ext cx="5286375" cy="3983557"/>
          </a:xfrm>
          <a:prstGeom prst="rect">
            <a:avLst/>
          </a:prstGeom>
        </p:spPr>
      </p:pic>
    </p:spTree>
    <p:extLst>
      <p:ext uri="{BB962C8B-B14F-4D97-AF65-F5344CB8AC3E}">
        <p14:creationId xmlns:p14="http://schemas.microsoft.com/office/powerpoint/2010/main" val="24871406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0CEA8-6244-34EA-CD4A-D53190D396EA}"/>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49745568-06AF-AC3C-437F-E7E12823BF14}"/>
              </a:ext>
            </a:extLst>
          </p:cNvPr>
          <p:cNvSpPr>
            <a:spLocks noGrp="1"/>
          </p:cNvSpPr>
          <p:nvPr>
            <p:ph type="title"/>
          </p:nvPr>
        </p:nvSpPr>
        <p:spPr>
          <a:xfrm>
            <a:off x="0" y="0"/>
            <a:ext cx="8982635" cy="510988"/>
          </a:xfrm>
        </p:spPr>
        <p:txBody>
          <a:bodyPr/>
          <a:lstStyle/>
          <a:p>
            <a:r>
              <a:rPr lang="en-US" dirty="0">
                <a:solidFill>
                  <a:srgbClr val="002060"/>
                </a:solidFill>
              </a:rPr>
              <a:t>SLA </a:t>
            </a:r>
            <a:r>
              <a:rPr lang="en-US" sz="3200" dirty="0">
                <a:solidFill>
                  <a:srgbClr val="002060"/>
                </a:solidFill>
              </a:rPr>
              <a:t>Assignment</a:t>
            </a:r>
            <a:endParaRPr lang="en-US" dirty="0">
              <a:solidFill>
                <a:srgbClr val="002060"/>
              </a:solidFill>
            </a:endParaRPr>
          </a:p>
        </p:txBody>
      </p:sp>
      <p:sp>
        <p:nvSpPr>
          <p:cNvPr id="2" name="Slide Number Placeholder 1">
            <a:extLst>
              <a:ext uri="{FF2B5EF4-FFF2-40B4-BE49-F238E27FC236}">
                <a16:creationId xmlns:a16="http://schemas.microsoft.com/office/drawing/2014/main" id="{6CD7C507-3A55-0DA6-4951-BBABC28A36B5}"/>
              </a:ext>
            </a:extLst>
          </p:cNvPr>
          <p:cNvSpPr>
            <a:spLocks noGrp="1"/>
          </p:cNvSpPr>
          <p:nvPr>
            <p:ph type="sldNum" sz="quarter" idx="4"/>
          </p:nvPr>
        </p:nvSpPr>
        <p:spPr>
          <a:xfrm>
            <a:off x="11842382" y="6571131"/>
            <a:ext cx="352134" cy="258362"/>
          </a:xfrm>
        </p:spPr>
        <p:txBody>
          <a:bodyPr/>
          <a:lstStyle/>
          <a:p>
            <a:fld id="{58FB4751-880F-D840-AAA9-3A15815CC996}" type="slidenum">
              <a:rPr lang="en-US" sz="1200" smtClean="0"/>
              <a:pPr/>
              <a:t>16</a:t>
            </a:fld>
            <a:endParaRPr lang="en-US" sz="1200" dirty="0"/>
          </a:p>
        </p:txBody>
      </p:sp>
      <p:sp>
        <p:nvSpPr>
          <p:cNvPr id="9" name="TextBox 8">
            <a:extLst>
              <a:ext uri="{FF2B5EF4-FFF2-40B4-BE49-F238E27FC236}">
                <a16:creationId xmlns:a16="http://schemas.microsoft.com/office/drawing/2014/main" id="{777B7132-61E4-A0E5-1E8E-86809D34E96E}"/>
              </a:ext>
            </a:extLst>
          </p:cNvPr>
          <p:cNvSpPr txBox="1"/>
          <p:nvPr/>
        </p:nvSpPr>
        <p:spPr>
          <a:xfrm>
            <a:off x="-1" y="599746"/>
            <a:ext cx="8982635" cy="523220"/>
          </a:xfrm>
          <a:prstGeom prst="rect">
            <a:avLst/>
          </a:prstGeom>
          <a:noFill/>
        </p:spPr>
        <p:txBody>
          <a:bodyPr wrap="square">
            <a:spAutoFit/>
          </a:bodyPr>
          <a:lstStyle/>
          <a:p>
            <a:r>
              <a:rPr lang="en-US" sz="2800" b="1" dirty="0">
                <a:solidFill>
                  <a:schemeClr val="accent1">
                    <a:lumMod val="50000"/>
                  </a:schemeClr>
                </a:solidFill>
              </a:rPr>
              <a:t>Step 8: Feature Engineering for </a:t>
            </a:r>
            <a:r>
              <a:rPr lang="en-US" sz="2800" b="1" dirty="0" err="1">
                <a:solidFill>
                  <a:schemeClr val="accent1">
                    <a:lumMod val="50000"/>
                  </a:schemeClr>
                </a:solidFill>
              </a:rPr>
              <a:t>XGBoost</a:t>
            </a:r>
            <a:r>
              <a:rPr lang="en-US" sz="2800" b="1" dirty="0">
                <a:solidFill>
                  <a:schemeClr val="accent1">
                    <a:lumMod val="50000"/>
                  </a:schemeClr>
                </a:solidFill>
              </a:rPr>
              <a:t> Model</a:t>
            </a:r>
          </a:p>
        </p:txBody>
      </p:sp>
      <p:sp>
        <p:nvSpPr>
          <p:cNvPr id="4" name="TextBox 3">
            <a:extLst>
              <a:ext uri="{FF2B5EF4-FFF2-40B4-BE49-F238E27FC236}">
                <a16:creationId xmlns:a16="http://schemas.microsoft.com/office/drawing/2014/main" id="{32EB5912-CEEA-0702-688A-C6ED005BE482}"/>
              </a:ext>
            </a:extLst>
          </p:cNvPr>
          <p:cNvSpPr txBox="1"/>
          <p:nvPr/>
        </p:nvSpPr>
        <p:spPr>
          <a:xfrm>
            <a:off x="0" y="1122966"/>
            <a:ext cx="6216463" cy="5909310"/>
          </a:xfrm>
          <a:prstGeom prst="rect">
            <a:avLst/>
          </a:prstGeom>
          <a:noFill/>
        </p:spPr>
        <p:txBody>
          <a:bodyPr wrap="square">
            <a:spAutoFit/>
          </a:bodyPr>
          <a:lstStyle/>
          <a:p>
            <a:r>
              <a:rPr lang="en-US" sz="1400" dirty="0"/>
              <a:t>In this step , I prepare the data for the </a:t>
            </a:r>
            <a:r>
              <a:rPr lang="en-US" sz="1400" dirty="0" err="1"/>
              <a:t>XGBoost</a:t>
            </a:r>
            <a:r>
              <a:rPr lang="en-US" sz="1400" dirty="0"/>
              <a:t> model by creating additional time-based and lag features:</a:t>
            </a:r>
          </a:p>
          <a:p>
            <a:endParaRPr lang="en-US" sz="1400" dirty="0"/>
          </a:p>
          <a:p>
            <a:pPr marL="285750" indent="-285750">
              <a:buFont typeface="Arial" panose="020B0604020202020204" pitchFamily="34" charset="0"/>
              <a:buChar char="•"/>
            </a:pPr>
            <a:r>
              <a:rPr lang="en-US" sz="1400" dirty="0"/>
              <a:t>Starts with the 'date' and 'occupancy' data.</a:t>
            </a:r>
          </a:p>
          <a:p>
            <a:pPr marL="285750" indent="-285750">
              <a:buFont typeface="Arial" panose="020B0604020202020204" pitchFamily="34" charset="0"/>
              <a:buChar char="•"/>
            </a:pPr>
            <a:r>
              <a:rPr lang="en-US" sz="1400" dirty="0"/>
              <a:t>Converts 'date' to datetime and sorts the data.</a:t>
            </a:r>
          </a:p>
          <a:p>
            <a:pPr marL="285750" indent="-285750">
              <a:buFont typeface="Arial" panose="020B0604020202020204" pitchFamily="34" charset="0"/>
              <a:buChar char="•"/>
            </a:pPr>
            <a:r>
              <a:rPr lang="en-US" sz="1400" dirty="0"/>
              <a:t>Creates </a:t>
            </a:r>
            <a:r>
              <a:rPr lang="en-US" sz="1400" dirty="0" err="1"/>
              <a:t>dayofweek</a:t>
            </a:r>
            <a:r>
              <a:rPr lang="en-US" sz="1400" dirty="0"/>
              <a:t> and month features.</a:t>
            </a:r>
          </a:p>
          <a:p>
            <a:pPr marL="285750" indent="-285750">
              <a:buFont typeface="Arial" panose="020B0604020202020204" pitchFamily="34" charset="0"/>
              <a:buChar char="•"/>
            </a:pPr>
            <a:r>
              <a:rPr lang="en-US" sz="1400" dirty="0"/>
              <a:t>Creates lag features: lag1, lag7, and lag14 (occupancy from the previous day, 7 days ago, and 14 days ago).</a:t>
            </a:r>
          </a:p>
          <a:p>
            <a:pPr marL="285750" indent="-285750">
              <a:buFont typeface="Arial" panose="020B0604020202020204" pitchFamily="34" charset="0"/>
              <a:buChar char="•"/>
            </a:pPr>
            <a:r>
              <a:rPr lang="en-US" sz="1400" dirty="0"/>
              <a:t>Creates a rolling_mean_7 feature, which is the average occupancy over the past 7 days.</a:t>
            </a:r>
          </a:p>
          <a:p>
            <a:pPr marL="285750" indent="-285750">
              <a:buFont typeface="Arial" panose="020B0604020202020204" pitchFamily="34" charset="0"/>
              <a:buChar char="•"/>
            </a:pPr>
            <a:r>
              <a:rPr lang="en-US" sz="1400" dirty="0"/>
              <a:t>Removes rows with </a:t>
            </a:r>
            <a:r>
              <a:rPr lang="en-US" sz="1400" dirty="0" err="1"/>
              <a:t>NaN</a:t>
            </a:r>
            <a:r>
              <a:rPr lang="en-US" sz="1400" dirty="0"/>
              <a:t> values introduced by the lag and rolling mean calculations.</a:t>
            </a:r>
          </a:p>
          <a:p>
            <a:pPr marL="285750" indent="-285750">
              <a:buFont typeface="Arial" panose="020B0604020202020204" pitchFamily="34" charset="0"/>
              <a:buChar char="•"/>
            </a:pPr>
            <a:r>
              <a:rPr lang="en-US" sz="1400" dirty="0"/>
              <a:t>These additional features provide more historical context and smoothed information for the </a:t>
            </a:r>
            <a:r>
              <a:rPr lang="en-US" sz="1400" dirty="0" err="1"/>
              <a:t>XGBoost</a:t>
            </a:r>
            <a:r>
              <a:rPr lang="en-US" sz="1400" dirty="0"/>
              <a:t> model.</a:t>
            </a:r>
          </a:p>
          <a:p>
            <a:pPr marL="285750" indent="-285750">
              <a:buFont typeface="Arial" panose="020B0604020202020204" pitchFamily="34" charset="0"/>
              <a:buChar char="•"/>
            </a:pPr>
            <a:endParaRPr lang="en-US" sz="1400" dirty="0"/>
          </a:p>
          <a:p>
            <a:r>
              <a:rPr lang="en-US" sz="1400" dirty="0"/>
              <a:t>Data Preparation </a:t>
            </a:r>
          </a:p>
          <a:p>
            <a:r>
              <a:rPr lang="en-US" sz="1400" b="1" dirty="0">
                <a:solidFill>
                  <a:srgbClr val="00B0F0"/>
                </a:solidFill>
              </a:rPr>
              <a:t>Define Features and Target:</a:t>
            </a:r>
          </a:p>
          <a:p>
            <a:pPr marL="285750" indent="-285750">
              <a:buFont typeface="Arial" panose="020B0604020202020204" pitchFamily="34" charset="0"/>
              <a:buChar char="•"/>
            </a:pPr>
            <a:r>
              <a:rPr lang="en-US" sz="1400" dirty="0"/>
              <a:t>X: Contains the input features, including the time-based features (</a:t>
            </a:r>
            <a:r>
              <a:rPr lang="en-US" sz="1400" dirty="0" err="1"/>
              <a:t>dayofweek</a:t>
            </a:r>
            <a:r>
              <a:rPr lang="en-US" sz="1400" dirty="0"/>
              <a:t>, month) and the engineered lag and rolling mean features (lag1, lag7, lag14, rolling_mean_7)</a:t>
            </a:r>
          </a:p>
          <a:p>
            <a:r>
              <a:rPr lang="en-US" sz="1400" dirty="0"/>
              <a:t>y: Contains the target variable, which is the daily 'occupancy'.</a:t>
            </a:r>
          </a:p>
          <a:p>
            <a:r>
              <a:rPr lang="en-US" sz="1400" b="1" dirty="0">
                <a:solidFill>
                  <a:srgbClr val="00B0F0"/>
                </a:solidFill>
              </a:rPr>
              <a:t>Split Data:</a:t>
            </a:r>
          </a:p>
          <a:p>
            <a:pPr marL="285750" indent="-285750">
              <a:buFont typeface="Arial" panose="020B0604020202020204" pitchFamily="34" charset="0"/>
              <a:buChar char="•"/>
            </a:pPr>
            <a:r>
              <a:rPr lang="en-US" sz="1400" dirty="0"/>
              <a:t>Uses </a:t>
            </a:r>
            <a:r>
              <a:rPr lang="en-US" sz="1400" dirty="0" err="1"/>
              <a:t>train_test_split</a:t>
            </a:r>
            <a:r>
              <a:rPr lang="en-US" sz="1400" dirty="0"/>
              <a:t> to divide the data into training (80%) and testing (20%) sets.</a:t>
            </a:r>
          </a:p>
          <a:p>
            <a:pPr marL="285750" indent="-285750">
              <a:buFont typeface="Arial" panose="020B0604020202020204" pitchFamily="34" charset="0"/>
              <a:buChar char="•"/>
            </a:pPr>
            <a:r>
              <a:rPr lang="en-US" sz="1400" dirty="0" err="1"/>
              <a:t>test_size</a:t>
            </a:r>
            <a:r>
              <a:rPr lang="en-US" sz="1400" dirty="0"/>
              <a:t>=0.2 specifies that 20% of the data will be used for testing.</a:t>
            </a:r>
          </a:p>
          <a:p>
            <a:pPr marL="285750" indent="-285750">
              <a:buFont typeface="Arial" panose="020B0604020202020204" pitchFamily="34" charset="0"/>
              <a:buChar char="•"/>
            </a:pPr>
            <a:r>
              <a:rPr lang="en-US" sz="1400" dirty="0" err="1"/>
              <a:t>random_state</a:t>
            </a:r>
            <a:r>
              <a:rPr lang="en-US" sz="1400" dirty="0"/>
              <a:t>=42 ensures that the split is reproducible.</a:t>
            </a:r>
          </a:p>
          <a:p>
            <a:r>
              <a:rPr lang="en-US" sz="1400" dirty="0"/>
              <a:t>This step is crucial for evaluating the model's performance on unseen data</a:t>
            </a:r>
          </a:p>
        </p:txBody>
      </p:sp>
      <p:pic>
        <p:nvPicPr>
          <p:cNvPr id="5" name="Picture 4">
            <a:extLst>
              <a:ext uri="{FF2B5EF4-FFF2-40B4-BE49-F238E27FC236}">
                <a16:creationId xmlns:a16="http://schemas.microsoft.com/office/drawing/2014/main" id="{79121C3C-7105-11E8-AD88-429283AC64F4}"/>
              </a:ext>
            </a:extLst>
          </p:cNvPr>
          <p:cNvPicPr>
            <a:picLocks noChangeAspect="1"/>
          </p:cNvPicPr>
          <p:nvPr/>
        </p:nvPicPr>
        <p:blipFill>
          <a:blip r:embed="rId3"/>
          <a:stretch>
            <a:fillRect/>
          </a:stretch>
        </p:blipFill>
        <p:spPr>
          <a:xfrm>
            <a:off x="6590010" y="1046766"/>
            <a:ext cx="5310320" cy="3784163"/>
          </a:xfrm>
          <a:prstGeom prst="rect">
            <a:avLst/>
          </a:prstGeom>
        </p:spPr>
      </p:pic>
      <p:pic>
        <p:nvPicPr>
          <p:cNvPr id="8" name="Picture 7">
            <a:extLst>
              <a:ext uri="{FF2B5EF4-FFF2-40B4-BE49-F238E27FC236}">
                <a16:creationId xmlns:a16="http://schemas.microsoft.com/office/drawing/2014/main" id="{407E5197-45ED-15DB-F507-622DAF9E0BEB}"/>
              </a:ext>
            </a:extLst>
          </p:cNvPr>
          <p:cNvPicPr>
            <a:picLocks noChangeAspect="1"/>
          </p:cNvPicPr>
          <p:nvPr/>
        </p:nvPicPr>
        <p:blipFill>
          <a:blip r:embed="rId4"/>
          <a:stretch>
            <a:fillRect/>
          </a:stretch>
        </p:blipFill>
        <p:spPr>
          <a:xfrm>
            <a:off x="6592539" y="4927237"/>
            <a:ext cx="5307791" cy="1729505"/>
          </a:xfrm>
          <a:prstGeom prst="rect">
            <a:avLst/>
          </a:prstGeom>
        </p:spPr>
      </p:pic>
    </p:spTree>
    <p:extLst>
      <p:ext uri="{BB962C8B-B14F-4D97-AF65-F5344CB8AC3E}">
        <p14:creationId xmlns:p14="http://schemas.microsoft.com/office/powerpoint/2010/main" val="12658431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24D84-76CA-B6F2-9CD2-B8D96B95AD7A}"/>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B472F3D0-AF65-E108-CA98-89E57BA981E6}"/>
              </a:ext>
            </a:extLst>
          </p:cNvPr>
          <p:cNvSpPr>
            <a:spLocks noGrp="1"/>
          </p:cNvSpPr>
          <p:nvPr>
            <p:ph type="title"/>
          </p:nvPr>
        </p:nvSpPr>
        <p:spPr>
          <a:xfrm>
            <a:off x="0" y="0"/>
            <a:ext cx="8982635" cy="510988"/>
          </a:xfrm>
        </p:spPr>
        <p:txBody>
          <a:bodyPr/>
          <a:lstStyle/>
          <a:p>
            <a:r>
              <a:rPr lang="en-US" dirty="0">
                <a:solidFill>
                  <a:srgbClr val="002060"/>
                </a:solidFill>
              </a:rPr>
              <a:t>SLA </a:t>
            </a:r>
            <a:r>
              <a:rPr lang="en-US" sz="3200" dirty="0">
                <a:solidFill>
                  <a:srgbClr val="002060"/>
                </a:solidFill>
              </a:rPr>
              <a:t>Assignment</a:t>
            </a:r>
            <a:endParaRPr lang="en-US" dirty="0">
              <a:solidFill>
                <a:srgbClr val="002060"/>
              </a:solidFill>
            </a:endParaRPr>
          </a:p>
        </p:txBody>
      </p:sp>
      <p:sp>
        <p:nvSpPr>
          <p:cNvPr id="2" name="Slide Number Placeholder 1">
            <a:extLst>
              <a:ext uri="{FF2B5EF4-FFF2-40B4-BE49-F238E27FC236}">
                <a16:creationId xmlns:a16="http://schemas.microsoft.com/office/drawing/2014/main" id="{34C14846-3DE8-B9F6-8F1E-60A2F9E8844A}"/>
              </a:ext>
            </a:extLst>
          </p:cNvPr>
          <p:cNvSpPr>
            <a:spLocks noGrp="1"/>
          </p:cNvSpPr>
          <p:nvPr>
            <p:ph type="sldNum" sz="quarter" idx="4"/>
          </p:nvPr>
        </p:nvSpPr>
        <p:spPr>
          <a:xfrm>
            <a:off x="11842382" y="6571131"/>
            <a:ext cx="352134" cy="258362"/>
          </a:xfrm>
        </p:spPr>
        <p:txBody>
          <a:bodyPr/>
          <a:lstStyle/>
          <a:p>
            <a:fld id="{58FB4751-880F-D840-AAA9-3A15815CC996}" type="slidenum">
              <a:rPr lang="en-US" sz="1200" smtClean="0"/>
              <a:pPr/>
              <a:t>17</a:t>
            </a:fld>
            <a:endParaRPr lang="en-US" sz="1200" dirty="0"/>
          </a:p>
        </p:txBody>
      </p:sp>
      <p:sp>
        <p:nvSpPr>
          <p:cNvPr id="9" name="TextBox 8">
            <a:extLst>
              <a:ext uri="{FF2B5EF4-FFF2-40B4-BE49-F238E27FC236}">
                <a16:creationId xmlns:a16="http://schemas.microsoft.com/office/drawing/2014/main" id="{A38FA9F7-E58D-103A-C83A-7A5FF2E4D3E8}"/>
              </a:ext>
            </a:extLst>
          </p:cNvPr>
          <p:cNvSpPr txBox="1"/>
          <p:nvPr/>
        </p:nvSpPr>
        <p:spPr>
          <a:xfrm>
            <a:off x="-1" y="599746"/>
            <a:ext cx="8982635" cy="523220"/>
          </a:xfrm>
          <a:prstGeom prst="rect">
            <a:avLst/>
          </a:prstGeom>
          <a:noFill/>
        </p:spPr>
        <p:txBody>
          <a:bodyPr wrap="square">
            <a:spAutoFit/>
          </a:bodyPr>
          <a:lstStyle/>
          <a:p>
            <a:r>
              <a:rPr lang="en-US" sz="2800" b="1" dirty="0">
                <a:solidFill>
                  <a:schemeClr val="accent1">
                    <a:lumMod val="50000"/>
                  </a:schemeClr>
                </a:solidFill>
              </a:rPr>
              <a:t>Step 8.1 </a:t>
            </a:r>
            <a:r>
              <a:rPr lang="en-US" sz="2800" b="1" dirty="0" err="1">
                <a:solidFill>
                  <a:schemeClr val="accent1">
                    <a:lumMod val="50000"/>
                  </a:schemeClr>
                </a:solidFill>
              </a:rPr>
              <a:t>XGBoost</a:t>
            </a:r>
            <a:r>
              <a:rPr lang="en-US" sz="2800" b="1" dirty="0">
                <a:solidFill>
                  <a:schemeClr val="accent1">
                    <a:lumMod val="50000"/>
                  </a:schemeClr>
                </a:solidFill>
              </a:rPr>
              <a:t> RMSE</a:t>
            </a:r>
          </a:p>
        </p:txBody>
      </p:sp>
      <p:sp>
        <p:nvSpPr>
          <p:cNvPr id="4" name="TextBox 3">
            <a:extLst>
              <a:ext uri="{FF2B5EF4-FFF2-40B4-BE49-F238E27FC236}">
                <a16:creationId xmlns:a16="http://schemas.microsoft.com/office/drawing/2014/main" id="{82853E3E-8C4B-47EA-BF9E-E2A6CB0638CC}"/>
              </a:ext>
            </a:extLst>
          </p:cNvPr>
          <p:cNvSpPr txBox="1"/>
          <p:nvPr/>
        </p:nvSpPr>
        <p:spPr>
          <a:xfrm>
            <a:off x="136712" y="1178048"/>
            <a:ext cx="6172200" cy="3970318"/>
          </a:xfrm>
          <a:prstGeom prst="rect">
            <a:avLst/>
          </a:prstGeom>
          <a:noFill/>
        </p:spPr>
        <p:txBody>
          <a:bodyPr wrap="square">
            <a:spAutoFit/>
          </a:bodyPr>
          <a:lstStyle/>
          <a:p>
            <a:r>
              <a:rPr lang="en-US" sz="1400" dirty="0"/>
              <a:t>In this step, we train an </a:t>
            </a:r>
            <a:r>
              <a:rPr lang="en-US" sz="1400" dirty="0" err="1"/>
              <a:t>XGBoost</a:t>
            </a:r>
            <a:r>
              <a:rPr lang="en-US" sz="1400" dirty="0"/>
              <a:t> Regressor model to predict ward occupancy.</a:t>
            </a:r>
          </a:p>
          <a:p>
            <a:endParaRPr lang="en-US" sz="1400" dirty="0"/>
          </a:p>
          <a:p>
            <a:pPr marL="285750" indent="-285750">
              <a:buFont typeface="Arial" panose="020B0604020202020204" pitchFamily="34" charset="0"/>
              <a:buChar char="•"/>
            </a:pPr>
            <a:r>
              <a:rPr lang="en-US" sz="1400" dirty="0"/>
              <a:t>Import Libraries: </a:t>
            </a:r>
          </a:p>
          <a:p>
            <a:pPr marL="742950" lvl="1" indent="-285750">
              <a:buFont typeface="Arial" panose="020B0604020202020204" pitchFamily="34" charset="0"/>
              <a:buChar char="•"/>
            </a:pPr>
            <a:r>
              <a:rPr lang="en-US" sz="1400" dirty="0"/>
              <a:t>Imports </a:t>
            </a:r>
            <a:r>
              <a:rPr lang="en-US" sz="1400" dirty="0" err="1"/>
              <a:t>XGBRegressor</a:t>
            </a:r>
            <a:r>
              <a:rPr lang="en-US" sz="1400" dirty="0"/>
              <a:t>, </a:t>
            </a:r>
            <a:r>
              <a:rPr lang="en-US" sz="1400" dirty="0" err="1"/>
              <a:t>mean_squared_error</a:t>
            </a:r>
            <a:r>
              <a:rPr lang="en-US" sz="1400" dirty="0"/>
              <a:t>, and </a:t>
            </a:r>
            <a:r>
              <a:rPr lang="en-US" sz="1400" dirty="0" err="1"/>
              <a:t>numpy</a:t>
            </a:r>
            <a:r>
              <a:rPr lang="en-US" sz="1400" dirty="0"/>
              <a:t>.</a:t>
            </a:r>
          </a:p>
          <a:p>
            <a:pPr marL="285750" indent="-285750">
              <a:buFont typeface="Arial" panose="020B0604020202020204" pitchFamily="34" charset="0"/>
              <a:buChar char="•"/>
            </a:pPr>
            <a:r>
              <a:rPr lang="en-US" sz="1400" dirty="0"/>
              <a:t>Initialize Model: </a:t>
            </a:r>
          </a:p>
          <a:p>
            <a:pPr marL="742950" lvl="1" indent="-285750">
              <a:buFont typeface="Arial" panose="020B0604020202020204" pitchFamily="34" charset="0"/>
              <a:buChar char="•"/>
            </a:pPr>
            <a:r>
              <a:rPr lang="en-US" sz="1400" dirty="0"/>
              <a:t>Sets up the </a:t>
            </a:r>
            <a:r>
              <a:rPr lang="en-US" sz="1400" dirty="0" err="1"/>
              <a:t>XGBRegressor</a:t>
            </a:r>
            <a:r>
              <a:rPr lang="en-US" sz="1400" dirty="0"/>
              <a:t> with hyperparameters like </a:t>
            </a:r>
            <a:r>
              <a:rPr lang="en-US" sz="1400" dirty="0" err="1"/>
              <a:t>n_estimators</a:t>
            </a:r>
            <a:r>
              <a:rPr lang="en-US" sz="1400" dirty="0"/>
              <a:t>, </a:t>
            </a:r>
            <a:r>
              <a:rPr lang="en-US" sz="1400" dirty="0" err="1"/>
              <a:t>learning_rate</a:t>
            </a:r>
            <a:r>
              <a:rPr lang="en-US" sz="1400" dirty="0"/>
              <a:t>, and </a:t>
            </a:r>
            <a:r>
              <a:rPr lang="en-US" sz="1400" dirty="0" err="1"/>
              <a:t>max_depth</a:t>
            </a:r>
            <a:r>
              <a:rPr lang="en-US" sz="1400" dirty="0"/>
              <a:t>.</a:t>
            </a:r>
          </a:p>
          <a:p>
            <a:pPr marL="285750" indent="-285750">
              <a:buFont typeface="Arial" panose="020B0604020202020204" pitchFamily="34" charset="0"/>
              <a:buChar char="•"/>
            </a:pPr>
            <a:r>
              <a:rPr lang="en-US" sz="1400" dirty="0"/>
              <a:t>Train Model: </a:t>
            </a:r>
          </a:p>
          <a:p>
            <a:pPr marL="742950" lvl="1" indent="-285750">
              <a:buFont typeface="Arial" panose="020B0604020202020204" pitchFamily="34" charset="0"/>
              <a:buChar char="•"/>
            </a:pPr>
            <a:r>
              <a:rPr lang="en-US" sz="1400" dirty="0"/>
              <a:t>Fits the model to the training data (</a:t>
            </a:r>
            <a:r>
              <a:rPr lang="en-US" sz="1400" dirty="0" err="1"/>
              <a:t>X_train</a:t>
            </a:r>
            <a:r>
              <a:rPr lang="en-US" sz="1400" dirty="0"/>
              <a:t>, </a:t>
            </a:r>
            <a:r>
              <a:rPr lang="en-US" sz="1400" dirty="0" err="1"/>
              <a:t>y_train</a:t>
            </a:r>
            <a:r>
              <a:rPr lang="en-US" sz="1400" dirty="0"/>
              <a:t>).</a:t>
            </a:r>
          </a:p>
          <a:p>
            <a:pPr marL="285750" indent="-285750">
              <a:buFont typeface="Arial" panose="020B0604020202020204" pitchFamily="34" charset="0"/>
              <a:buChar char="•"/>
            </a:pPr>
            <a:r>
              <a:rPr lang="en-US" sz="1400" dirty="0"/>
              <a:t>Predict: </a:t>
            </a:r>
          </a:p>
          <a:p>
            <a:pPr marL="742950" lvl="1" indent="-285750">
              <a:buFont typeface="Arial" panose="020B0604020202020204" pitchFamily="34" charset="0"/>
              <a:buChar char="•"/>
            </a:pPr>
            <a:r>
              <a:rPr lang="en-US" sz="1400" dirty="0"/>
              <a:t>Makes predictions on the test data (</a:t>
            </a:r>
            <a:r>
              <a:rPr lang="en-US" sz="1400" dirty="0" err="1"/>
              <a:t>X_test</a:t>
            </a:r>
            <a:r>
              <a:rPr lang="en-US" sz="1400" dirty="0"/>
              <a:t>).</a:t>
            </a:r>
          </a:p>
          <a:p>
            <a:pPr marL="285750" indent="-285750">
              <a:buFont typeface="Arial" panose="020B0604020202020204" pitchFamily="34" charset="0"/>
              <a:buChar char="•"/>
            </a:pPr>
            <a:r>
              <a:rPr lang="en-US" sz="1400" dirty="0"/>
              <a:t>Evaluate: </a:t>
            </a:r>
          </a:p>
          <a:p>
            <a:pPr marL="742950" lvl="1" indent="-285750">
              <a:buFont typeface="Arial" panose="020B0604020202020204" pitchFamily="34" charset="0"/>
              <a:buChar char="•"/>
            </a:pPr>
            <a:r>
              <a:rPr lang="en-US" sz="1400" dirty="0"/>
              <a:t>Calculates the Root Mean Squared Error (RMSE) between actual and predicted values.</a:t>
            </a:r>
          </a:p>
          <a:p>
            <a:pPr marL="285750" indent="-285750">
              <a:buFont typeface="Arial" panose="020B0604020202020204" pitchFamily="34" charset="0"/>
              <a:buChar char="•"/>
            </a:pPr>
            <a:r>
              <a:rPr lang="en-US" sz="1400" dirty="0"/>
              <a:t>Output:</a:t>
            </a:r>
          </a:p>
          <a:p>
            <a:pPr marL="742950" lvl="1" indent="-285750">
              <a:buFont typeface="Arial" panose="020B0604020202020204" pitchFamily="34" charset="0"/>
              <a:buChar char="•"/>
            </a:pPr>
            <a:r>
              <a:rPr lang="en-US" sz="1400" dirty="0"/>
              <a:t>The output </a:t>
            </a:r>
            <a:r>
              <a:rPr lang="en-US" sz="1400" dirty="0" err="1"/>
              <a:t>XGBoost</a:t>
            </a:r>
            <a:r>
              <a:rPr lang="en-US" sz="1400" dirty="0"/>
              <a:t> RMSE: 1.31 indicates that, on average, the model's predictions differ from actual occupancy by about 1.31 patients. A lower RMSE means better performance.</a:t>
            </a:r>
          </a:p>
        </p:txBody>
      </p:sp>
      <p:pic>
        <p:nvPicPr>
          <p:cNvPr id="6" name="Picture 5">
            <a:extLst>
              <a:ext uri="{FF2B5EF4-FFF2-40B4-BE49-F238E27FC236}">
                <a16:creationId xmlns:a16="http://schemas.microsoft.com/office/drawing/2014/main" id="{7C96E6BF-3ADC-EE13-5C02-06C33C2F8848}"/>
              </a:ext>
            </a:extLst>
          </p:cNvPr>
          <p:cNvPicPr>
            <a:picLocks noChangeAspect="1"/>
          </p:cNvPicPr>
          <p:nvPr/>
        </p:nvPicPr>
        <p:blipFill>
          <a:blip r:embed="rId3"/>
          <a:stretch>
            <a:fillRect/>
          </a:stretch>
        </p:blipFill>
        <p:spPr>
          <a:xfrm>
            <a:off x="6308912" y="1122966"/>
            <a:ext cx="5608806" cy="3657917"/>
          </a:xfrm>
          <a:prstGeom prst="rect">
            <a:avLst/>
          </a:prstGeom>
        </p:spPr>
      </p:pic>
    </p:spTree>
    <p:extLst>
      <p:ext uri="{BB962C8B-B14F-4D97-AF65-F5344CB8AC3E}">
        <p14:creationId xmlns:p14="http://schemas.microsoft.com/office/powerpoint/2010/main" val="31925588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25DAB-8C40-53F9-A5EC-C891DD7083A7}"/>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D0FE6229-10C1-5D5A-60C0-F54C5AECB644}"/>
              </a:ext>
            </a:extLst>
          </p:cNvPr>
          <p:cNvSpPr>
            <a:spLocks noGrp="1"/>
          </p:cNvSpPr>
          <p:nvPr>
            <p:ph type="title"/>
          </p:nvPr>
        </p:nvSpPr>
        <p:spPr>
          <a:xfrm>
            <a:off x="0" y="0"/>
            <a:ext cx="8982635" cy="510988"/>
          </a:xfrm>
        </p:spPr>
        <p:txBody>
          <a:bodyPr/>
          <a:lstStyle/>
          <a:p>
            <a:r>
              <a:rPr lang="en-US" dirty="0">
                <a:solidFill>
                  <a:srgbClr val="002060"/>
                </a:solidFill>
              </a:rPr>
              <a:t>SLA </a:t>
            </a:r>
            <a:r>
              <a:rPr lang="en-US" sz="3200" dirty="0">
                <a:solidFill>
                  <a:srgbClr val="002060"/>
                </a:solidFill>
              </a:rPr>
              <a:t>Assignment</a:t>
            </a:r>
            <a:endParaRPr lang="en-US" dirty="0">
              <a:solidFill>
                <a:srgbClr val="002060"/>
              </a:solidFill>
            </a:endParaRPr>
          </a:p>
        </p:txBody>
      </p:sp>
      <p:sp>
        <p:nvSpPr>
          <p:cNvPr id="2" name="Slide Number Placeholder 1">
            <a:extLst>
              <a:ext uri="{FF2B5EF4-FFF2-40B4-BE49-F238E27FC236}">
                <a16:creationId xmlns:a16="http://schemas.microsoft.com/office/drawing/2014/main" id="{0415C258-0DC1-46C3-6D7C-F7F88B17B011}"/>
              </a:ext>
            </a:extLst>
          </p:cNvPr>
          <p:cNvSpPr>
            <a:spLocks noGrp="1"/>
          </p:cNvSpPr>
          <p:nvPr>
            <p:ph type="sldNum" sz="quarter" idx="4"/>
          </p:nvPr>
        </p:nvSpPr>
        <p:spPr>
          <a:xfrm>
            <a:off x="11842382" y="6571131"/>
            <a:ext cx="352134" cy="258362"/>
          </a:xfrm>
        </p:spPr>
        <p:txBody>
          <a:bodyPr/>
          <a:lstStyle/>
          <a:p>
            <a:fld id="{58FB4751-880F-D840-AAA9-3A15815CC996}" type="slidenum">
              <a:rPr lang="en-US" sz="1200" smtClean="0"/>
              <a:pPr/>
              <a:t>18</a:t>
            </a:fld>
            <a:endParaRPr lang="en-US" sz="1200" dirty="0"/>
          </a:p>
        </p:txBody>
      </p:sp>
      <p:sp>
        <p:nvSpPr>
          <p:cNvPr id="9" name="TextBox 8">
            <a:extLst>
              <a:ext uri="{FF2B5EF4-FFF2-40B4-BE49-F238E27FC236}">
                <a16:creationId xmlns:a16="http://schemas.microsoft.com/office/drawing/2014/main" id="{EBE32B06-8947-5D16-F0E7-B5DC18076CCC}"/>
              </a:ext>
            </a:extLst>
          </p:cNvPr>
          <p:cNvSpPr txBox="1"/>
          <p:nvPr/>
        </p:nvSpPr>
        <p:spPr>
          <a:xfrm>
            <a:off x="-1" y="599746"/>
            <a:ext cx="8982635" cy="523220"/>
          </a:xfrm>
          <a:prstGeom prst="rect">
            <a:avLst/>
          </a:prstGeom>
          <a:noFill/>
        </p:spPr>
        <p:txBody>
          <a:bodyPr wrap="square">
            <a:spAutoFit/>
          </a:bodyPr>
          <a:lstStyle/>
          <a:p>
            <a:r>
              <a:rPr lang="en-US" sz="2800" b="1" dirty="0">
                <a:solidFill>
                  <a:schemeClr val="accent1">
                    <a:lumMod val="50000"/>
                  </a:schemeClr>
                </a:solidFill>
              </a:rPr>
              <a:t>Step 8.2 </a:t>
            </a:r>
            <a:r>
              <a:rPr lang="en-US" sz="2800" b="1" dirty="0" err="1">
                <a:solidFill>
                  <a:schemeClr val="accent1">
                    <a:lumMod val="50000"/>
                  </a:schemeClr>
                </a:solidFill>
              </a:rPr>
              <a:t>XGBoost</a:t>
            </a:r>
            <a:r>
              <a:rPr lang="en-US" sz="2800" b="1" dirty="0">
                <a:solidFill>
                  <a:schemeClr val="accent1">
                    <a:lumMod val="50000"/>
                  </a:schemeClr>
                </a:solidFill>
              </a:rPr>
              <a:t> Prediction</a:t>
            </a:r>
          </a:p>
        </p:txBody>
      </p:sp>
      <p:sp>
        <p:nvSpPr>
          <p:cNvPr id="4" name="TextBox 3">
            <a:extLst>
              <a:ext uri="{FF2B5EF4-FFF2-40B4-BE49-F238E27FC236}">
                <a16:creationId xmlns:a16="http://schemas.microsoft.com/office/drawing/2014/main" id="{46F9A131-C874-AE10-3228-392917E9200B}"/>
              </a:ext>
            </a:extLst>
          </p:cNvPr>
          <p:cNvSpPr txBox="1"/>
          <p:nvPr/>
        </p:nvSpPr>
        <p:spPr>
          <a:xfrm>
            <a:off x="136712" y="1197098"/>
            <a:ext cx="6172200" cy="4185761"/>
          </a:xfrm>
          <a:prstGeom prst="rect">
            <a:avLst/>
          </a:prstGeom>
          <a:noFill/>
        </p:spPr>
        <p:txBody>
          <a:bodyPr wrap="square">
            <a:spAutoFit/>
          </a:bodyPr>
          <a:lstStyle/>
          <a:p>
            <a:r>
              <a:rPr lang="en-US" sz="1400" dirty="0"/>
              <a:t>In this step, we compare the  actual all wards occupancy (blue line with circles) vs predicted occupancy (orange line with crosses) for 100 test samples using </a:t>
            </a:r>
            <a:r>
              <a:rPr lang="en-US" sz="1400" dirty="0" err="1"/>
              <a:t>XGBoost</a:t>
            </a:r>
            <a:r>
              <a:rPr lang="en-US" sz="1400" dirty="0"/>
              <a:t>. </a:t>
            </a:r>
          </a:p>
          <a:p>
            <a:endParaRPr lang="en-US" sz="1400" dirty="0"/>
          </a:p>
          <a:p>
            <a:r>
              <a:rPr lang="en-US" sz="1400" b="1" dirty="0">
                <a:solidFill>
                  <a:srgbClr val="00B0F0"/>
                </a:solidFill>
              </a:rPr>
              <a:t>Outcome:</a:t>
            </a:r>
          </a:p>
          <a:p>
            <a:pPr marL="285750" indent="-285750">
              <a:buFont typeface="Arial" panose="020B0604020202020204" pitchFamily="34" charset="0"/>
              <a:buChar char="•"/>
            </a:pPr>
            <a:r>
              <a:rPr lang="en-US" sz="1400" dirty="0"/>
              <a:t>Actual values fluctuate sharply between 0 and 5 patients, showing high variability and frequent spikes. Predicted values follow the general pattern more closely than Random Forest, capturing some peaks and dips, but still smoothing out extreme spikes.</a:t>
            </a:r>
          </a:p>
          <a:p>
            <a:pPr marL="285750" indent="-285750">
              <a:buFont typeface="Arial" panose="020B0604020202020204" pitchFamily="34" charset="0"/>
              <a:buChar char="•"/>
            </a:pPr>
            <a:endParaRPr lang="en-US" sz="1400" dirty="0"/>
          </a:p>
          <a:p>
            <a:r>
              <a:rPr lang="en-US" sz="1400" b="1" dirty="0">
                <a:solidFill>
                  <a:srgbClr val="00B0F0"/>
                </a:solidFill>
              </a:rPr>
              <a:t>Observations:</a:t>
            </a:r>
            <a:endParaRPr lang="en-US" sz="1400" dirty="0">
              <a:solidFill>
                <a:srgbClr val="00B0F0"/>
              </a:solidFill>
            </a:endParaRPr>
          </a:p>
          <a:p>
            <a:pPr marL="285750" indent="-285750">
              <a:buFont typeface="Arial" panose="020B0604020202020204" pitchFamily="34" charset="0"/>
              <a:buChar char="•"/>
            </a:pPr>
            <a:r>
              <a:rPr lang="en-US" sz="1400" dirty="0" err="1"/>
              <a:t>XGBoost</a:t>
            </a:r>
            <a:r>
              <a:rPr lang="en-US" sz="1400" dirty="0"/>
              <a:t> performs better than Random Forest:</a:t>
            </a:r>
          </a:p>
          <a:p>
            <a:pPr marL="742950" lvl="1" indent="-285750">
              <a:buFont typeface="Arial" panose="020B0604020202020204" pitchFamily="34" charset="0"/>
              <a:buChar char="•"/>
            </a:pPr>
            <a:r>
              <a:rPr lang="en-US" sz="1400" dirty="0"/>
              <a:t>Predictions align more closely with actual values.</a:t>
            </a:r>
          </a:p>
          <a:p>
            <a:pPr marL="285750" indent="-285750">
              <a:buFont typeface="Arial" panose="020B0604020202020204" pitchFamily="34" charset="0"/>
              <a:buChar char="•"/>
            </a:pPr>
            <a:r>
              <a:rPr lang="en-US" sz="1400" dirty="0"/>
              <a:t>Captures short-term trends and some spikes better than Random Forest.</a:t>
            </a:r>
          </a:p>
          <a:p>
            <a:pPr marL="285750" indent="-285750">
              <a:buFont typeface="Arial" panose="020B0604020202020204" pitchFamily="34" charset="0"/>
              <a:buChar char="•"/>
            </a:pPr>
            <a:r>
              <a:rPr lang="en-US" sz="1400" dirty="0"/>
              <a:t>However, </a:t>
            </a:r>
            <a:r>
              <a:rPr lang="en-US" sz="1400" dirty="0" err="1"/>
              <a:t>XGBoost</a:t>
            </a:r>
            <a:r>
              <a:rPr lang="en-US" sz="1400" dirty="0"/>
              <a:t> still underestimates the highest peaks and overestimates some low points.</a:t>
            </a:r>
          </a:p>
          <a:p>
            <a:pPr marL="285750" indent="-285750">
              <a:buFont typeface="Arial" panose="020B0604020202020204" pitchFamily="34" charset="0"/>
              <a:buChar char="•"/>
            </a:pPr>
            <a:r>
              <a:rPr lang="en-US" sz="1400" dirty="0" err="1"/>
              <a:t>XGBoost</a:t>
            </a:r>
            <a:r>
              <a:rPr lang="en-US" sz="1400" dirty="0"/>
              <a:t> is a strong candidate for wards occupancy prediction when using lag features and time-based features.</a:t>
            </a:r>
          </a:p>
          <a:p>
            <a:pPr marL="285750" indent="-285750">
              <a:buFont typeface="Arial" panose="020B0604020202020204" pitchFamily="34" charset="0"/>
              <a:buChar char="•"/>
            </a:pPr>
            <a:r>
              <a:rPr lang="en-US" sz="1400" dirty="0"/>
              <a:t>Further improvements could include such as Adding more lag features (lag14, lag30).</a:t>
            </a:r>
          </a:p>
        </p:txBody>
      </p:sp>
      <p:pic>
        <p:nvPicPr>
          <p:cNvPr id="5" name="Picture 4">
            <a:extLst>
              <a:ext uri="{FF2B5EF4-FFF2-40B4-BE49-F238E27FC236}">
                <a16:creationId xmlns:a16="http://schemas.microsoft.com/office/drawing/2014/main" id="{13CEC58C-EBD5-3820-57DF-F074C640409F}"/>
              </a:ext>
            </a:extLst>
          </p:cNvPr>
          <p:cNvPicPr>
            <a:picLocks noChangeAspect="1"/>
          </p:cNvPicPr>
          <p:nvPr/>
        </p:nvPicPr>
        <p:blipFill>
          <a:blip r:embed="rId3"/>
          <a:stretch>
            <a:fillRect/>
          </a:stretch>
        </p:blipFill>
        <p:spPr>
          <a:xfrm>
            <a:off x="6319877" y="1046516"/>
            <a:ext cx="5522505" cy="4185762"/>
          </a:xfrm>
          <a:prstGeom prst="rect">
            <a:avLst/>
          </a:prstGeom>
        </p:spPr>
      </p:pic>
    </p:spTree>
    <p:extLst>
      <p:ext uri="{BB962C8B-B14F-4D97-AF65-F5344CB8AC3E}">
        <p14:creationId xmlns:p14="http://schemas.microsoft.com/office/powerpoint/2010/main" val="15990866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D2E76-2D2E-E012-14EC-C79B439887C1}"/>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9AA522A0-C58E-8028-5B1C-45094C46C5AF}"/>
              </a:ext>
            </a:extLst>
          </p:cNvPr>
          <p:cNvSpPr>
            <a:spLocks noGrp="1"/>
          </p:cNvSpPr>
          <p:nvPr>
            <p:ph type="title"/>
          </p:nvPr>
        </p:nvSpPr>
        <p:spPr>
          <a:xfrm>
            <a:off x="0" y="0"/>
            <a:ext cx="8982635" cy="510988"/>
          </a:xfrm>
        </p:spPr>
        <p:txBody>
          <a:bodyPr/>
          <a:lstStyle/>
          <a:p>
            <a:r>
              <a:rPr lang="en-US" dirty="0">
                <a:solidFill>
                  <a:srgbClr val="002060"/>
                </a:solidFill>
              </a:rPr>
              <a:t>SLA </a:t>
            </a:r>
            <a:r>
              <a:rPr lang="en-US" sz="3200" dirty="0">
                <a:solidFill>
                  <a:srgbClr val="002060"/>
                </a:solidFill>
              </a:rPr>
              <a:t>Assignment</a:t>
            </a:r>
            <a:endParaRPr lang="en-US" dirty="0">
              <a:solidFill>
                <a:srgbClr val="002060"/>
              </a:solidFill>
            </a:endParaRPr>
          </a:p>
        </p:txBody>
      </p:sp>
      <p:sp>
        <p:nvSpPr>
          <p:cNvPr id="2" name="Slide Number Placeholder 1">
            <a:extLst>
              <a:ext uri="{FF2B5EF4-FFF2-40B4-BE49-F238E27FC236}">
                <a16:creationId xmlns:a16="http://schemas.microsoft.com/office/drawing/2014/main" id="{AB1FA534-9697-2F38-A0E0-9E27DE86C48C}"/>
              </a:ext>
            </a:extLst>
          </p:cNvPr>
          <p:cNvSpPr>
            <a:spLocks noGrp="1"/>
          </p:cNvSpPr>
          <p:nvPr>
            <p:ph type="sldNum" sz="quarter" idx="4"/>
          </p:nvPr>
        </p:nvSpPr>
        <p:spPr>
          <a:xfrm>
            <a:off x="11842382" y="6571131"/>
            <a:ext cx="352134" cy="258362"/>
          </a:xfrm>
        </p:spPr>
        <p:txBody>
          <a:bodyPr/>
          <a:lstStyle/>
          <a:p>
            <a:fld id="{58FB4751-880F-D840-AAA9-3A15815CC996}" type="slidenum">
              <a:rPr lang="en-US" sz="1200" smtClean="0"/>
              <a:pPr/>
              <a:t>19</a:t>
            </a:fld>
            <a:endParaRPr lang="en-US" sz="1200" dirty="0"/>
          </a:p>
        </p:txBody>
      </p:sp>
      <p:sp>
        <p:nvSpPr>
          <p:cNvPr id="9" name="TextBox 8">
            <a:extLst>
              <a:ext uri="{FF2B5EF4-FFF2-40B4-BE49-F238E27FC236}">
                <a16:creationId xmlns:a16="http://schemas.microsoft.com/office/drawing/2014/main" id="{E63E2607-26C9-25FC-3082-51879C2594C9}"/>
              </a:ext>
            </a:extLst>
          </p:cNvPr>
          <p:cNvSpPr txBox="1"/>
          <p:nvPr/>
        </p:nvSpPr>
        <p:spPr>
          <a:xfrm>
            <a:off x="-1" y="599746"/>
            <a:ext cx="8982635" cy="523220"/>
          </a:xfrm>
          <a:prstGeom prst="rect">
            <a:avLst/>
          </a:prstGeom>
          <a:noFill/>
        </p:spPr>
        <p:txBody>
          <a:bodyPr wrap="square">
            <a:spAutoFit/>
          </a:bodyPr>
          <a:lstStyle/>
          <a:p>
            <a:r>
              <a:rPr lang="en-US" sz="2800" b="1" dirty="0">
                <a:solidFill>
                  <a:schemeClr val="accent1">
                    <a:lumMod val="50000"/>
                  </a:schemeClr>
                </a:solidFill>
              </a:rPr>
              <a:t>Step 8.3 </a:t>
            </a:r>
            <a:r>
              <a:rPr lang="en-US" sz="2800" b="1" dirty="0" err="1">
                <a:solidFill>
                  <a:schemeClr val="accent1">
                    <a:lumMod val="50000"/>
                  </a:schemeClr>
                </a:solidFill>
              </a:rPr>
              <a:t>XGBoost</a:t>
            </a:r>
            <a:r>
              <a:rPr lang="en-US" sz="2800" b="1" dirty="0">
                <a:solidFill>
                  <a:schemeClr val="accent1">
                    <a:lumMod val="50000"/>
                  </a:schemeClr>
                </a:solidFill>
              </a:rPr>
              <a:t> Feature Importance Analysis</a:t>
            </a:r>
          </a:p>
        </p:txBody>
      </p:sp>
      <p:sp>
        <p:nvSpPr>
          <p:cNvPr id="4" name="TextBox 3">
            <a:extLst>
              <a:ext uri="{FF2B5EF4-FFF2-40B4-BE49-F238E27FC236}">
                <a16:creationId xmlns:a16="http://schemas.microsoft.com/office/drawing/2014/main" id="{63CAD5F5-D504-E0C8-D6B8-2BA93E423219}"/>
              </a:ext>
            </a:extLst>
          </p:cNvPr>
          <p:cNvSpPr txBox="1"/>
          <p:nvPr/>
        </p:nvSpPr>
        <p:spPr>
          <a:xfrm>
            <a:off x="136712" y="1197098"/>
            <a:ext cx="6172200" cy="3754874"/>
          </a:xfrm>
          <a:prstGeom prst="rect">
            <a:avLst/>
          </a:prstGeom>
          <a:noFill/>
        </p:spPr>
        <p:txBody>
          <a:bodyPr wrap="square">
            <a:spAutoFit/>
          </a:bodyPr>
          <a:lstStyle/>
          <a:p>
            <a:r>
              <a:rPr lang="en-US" sz="1400" dirty="0"/>
              <a:t>The bar chart displays the importance of features used by the </a:t>
            </a:r>
            <a:r>
              <a:rPr lang="en-US" sz="1400" dirty="0" err="1"/>
              <a:t>XGBoost</a:t>
            </a:r>
            <a:r>
              <a:rPr lang="en-US" sz="1400" dirty="0"/>
              <a:t> model to predict MICU occupancy.</a:t>
            </a:r>
          </a:p>
          <a:p>
            <a:endParaRPr lang="en-US" sz="1400" dirty="0"/>
          </a:p>
          <a:p>
            <a:r>
              <a:rPr lang="en-US" sz="1400" dirty="0">
                <a:solidFill>
                  <a:srgbClr val="00B0F0"/>
                </a:solidFill>
              </a:rPr>
              <a:t>Key Findings:</a:t>
            </a:r>
            <a:endParaRPr lang="en-US" sz="1400" dirty="0"/>
          </a:p>
          <a:p>
            <a:pPr marL="285750" indent="-285750">
              <a:buFont typeface="Arial" panose="020B0604020202020204" pitchFamily="34" charset="0"/>
              <a:buChar char="•"/>
            </a:pPr>
            <a:r>
              <a:rPr lang="en-US" sz="1400" dirty="0"/>
              <a:t>rolling_mean_7 (7-day average occupancy) is the most important feature, indicating that recent average occupancy is the strongest predictor.</a:t>
            </a:r>
          </a:p>
          <a:p>
            <a:pPr marL="285750" indent="-285750">
              <a:buFont typeface="Arial" panose="020B0604020202020204" pitchFamily="34" charset="0"/>
              <a:buChar char="•"/>
            </a:pPr>
            <a:r>
              <a:rPr lang="en-US" sz="1400" dirty="0"/>
              <a:t>Lag features (lag1, lag7, lag14) and time-based features (</a:t>
            </a:r>
            <a:r>
              <a:rPr lang="en-US" sz="1400" dirty="0" err="1"/>
              <a:t>dayofweek</a:t>
            </a:r>
            <a:r>
              <a:rPr lang="en-US" sz="1400" dirty="0"/>
              <a:t>, month) have much lower importance.</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b="1" dirty="0">
                <a:solidFill>
                  <a:srgbClr val="00B0F0"/>
                </a:solidFill>
              </a:rPr>
              <a:t>Interpretation:</a:t>
            </a:r>
          </a:p>
          <a:p>
            <a:pPr marL="285750" indent="-285750">
              <a:buFont typeface="Arial" panose="020B0604020202020204" pitchFamily="34" charset="0"/>
              <a:buChar char="•"/>
            </a:pPr>
            <a:r>
              <a:rPr lang="en-US" sz="1400" dirty="0" err="1"/>
              <a:t>XGBoost</a:t>
            </a:r>
            <a:r>
              <a:rPr lang="en-US" sz="1400" dirty="0"/>
              <a:t> heavily relies on the 7-day rolling mean, suggesting that short-term trends are more influential than specific past days or calendar patterns for predicting MICU occupancy.</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b="1" dirty="0">
                <a:solidFill>
                  <a:srgbClr val="00B0F0"/>
                </a:solidFill>
              </a:rPr>
              <a:t>Implication for Improvement:</a:t>
            </a:r>
          </a:p>
          <a:p>
            <a:pPr marL="285750" indent="-285750">
              <a:buFont typeface="Arial" panose="020B0604020202020204" pitchFamily="34" charset="0"/>
              <a:buChar char="•"/>
            </a:pPr>
            <a:r>
              <a:rPr lang="en-US" sz="1400" dirty="0"/>
              <a:t>Focus on incorporating more rolling statistics and potentially external factors for better accuracy.</a:t>
            </a:r>
          </a:p>
        </p:txBody>
      </p:sp>
      <p:pic>
        <p:nvPicPr>
          <p:cNvPr id="6" name="Picture 5">
            <a:extLst>
              <a:ext uri="{FF2B5EF4-FFF2-40B4-BE49-F238E27FC236}">
                <a16:creationId xmlns:a16="http://schemas.microsoft.com/office/drawing/2014/main" id="{7D2DABB3-FFC6-5549-BAAD-C08D4A61E59E}"/>
              </a:ext>
            </a:extLst>
          </p:cNvPr>
          <p:cNvPicPr>
            <a:picLocks noChangeAspect="1"/>
          </p:cNvPicPr>
          <p:nvPr/>
        </p:nvPicPr>
        <p:blipFill>
          <a:blip r:embed="rId3"/>
          <a:stretch>
            <a:fillRect/>
          </a:stretch>
        </p:blipFill>
        <p:spPr>
          <a:xfrm>
            <a:off x="6172200" y="1381976"/>
            <a:ext cx="5846249" cy="4094047"/>
          </a:xfrm>
          <a:prstGeom prst="rect">
            <a:avLst/>
          </a:prstGeom>
        </p:spPr>
      </p:pic>
    </p:spTree>
    <p:extLst>
      <p:ext uri="{BB962C8B-B14F-4D97-AF65-F5344CB8AC3E}">
        <p14:creationId xmlns:p14="http://schemas.microsoft.com/office/powerpoint/2010/main" val="17059751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DC0028-4150-0F89-E59C-F563C67F6CFD}"/>
              </a:ext>
            </a:extLst>
          </p:cNvPr>
          <p:cNvSpPr>
            <a:spLocks noGrp="1"/>
          </p:cNvSpPr>
          <p:nvPr>
            <p:ph type="ctrTitle"/>
          </p:nvPr>
        </p:nvSpPr>
        <p:spPr/>
        <p:txBody>
          <a:bodyPr/>
          <a:lstStyle/>
          <a:p>
            <a:r>
              <a:rPr lang="en-US" dirty="0"/>
              <a:t>thank you</a:t>
            </a:r>
          </a:p>
        </p:txBody>
      </p:sp>
    </p:spTree>
    <p:extLst>
      <p:ext uri="{BB962C8B-B14F-4D97-AF65-F5344CB8AC3E}">
        <p14:creationId xmlns:p14="http://schemas.microsoft.com/office/powerpoint/2010/main" val="2188828507"/>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5DF9CEC-52C2-4D14-B2F5-11176002A8B6}">
  <ds:schemaRefs>
    <ds:schemaRef ds:uri="http://purl.org/dc/dcmitype/"/>
    <ds:schemaRef ds:uri="http://purl.org/dc/elements/1.1/"/>
    <ds:schemaRef ds:uri="http://schemas.microsoft.com/office/2006/metadata/properties"/>
    <ds:schemaRef ds:uri="http://schemas.microsoft.com/office/infopath/2007/PartnerControls"/>
    <ds:schemaRef ds:uri="http://schemas.microsoft.com/office/2006/documentManagement/types"/>
    <ds:schemaRef ds:uri="http://schemas.openxmlformats.org/package/2006/metadata/core-properties"/>
    <ds:schemaRef ds:uri="http://purl.org/dc/terms/"/>
    <ds:schemaRef ds:uri="16c05727-aa75-4e4a-9b5f-8a80a1165891"/>
    <ds:schemaRef ds:uri="230e9df3-be65-4c73-a93b-d1236ebd677e"/>
    <ds:schemaRef ds:uri="71af3243-3dd4-4a8d-8c0d-dd76da1f02a5"/>
    <ds:schemaRef ds:uri="http://schemas.microsoft.com/sharepoint/v3"/>
    <ds:schemaRef ds:uri="http://www.w3.org/XML/1998/namespace"/>
  </ds:schemaRefs>
</ds:datastoreItem>
</file>

<file path=customXml/itemProps3.xml><?xml version="1.0" encoding="utf-8"?>
<ds:datastoreItem xmlns:ds="http://schemas.openxmlformats.org/officeDocument/2006/customXml" ds:itemID="{1249AD37-9510-4A2D-B790-12C439A83F93}">
  <ds:schemaRefs>
    <ds:schemaRef ds:uri="http://schemas.microsoft.com/sharepoint/v3/contenttype/forms"/>
  </ds:schemaRefs>
</ds:datastoreItem>
</file>

<file path=docMetadata/LabelInfo.xml><?xml version="1.0" encoding="utf-8"?>
<clbl:labelList xmlns:clbl="http://schemas.microsoft.com/office/2020/mipLabelMetadata">
  <clbl:label id="{76a2ae5a-9f00-4f6b-95ed-5d33d77c4d61}" enabled="0" method="" siteId="{76a2ae5a-9f00-4f6b-95ed-5d33d77c4d61}" removed="1"/>
</clbl:labelList>
</file>

<file path=docProps/app.xml><?xml version="1.0" encoding="utf-8"?>
<Properties xmlns="http://schemas.openxmlformats.org/officeDocument/2006/extended-properties" xmlns:vt="http://schemas.openxmlformats.org/officeDocument/2006/docPropsVTypes">
  <Template>{63FC3B56-DCB4-492A-A24D-3610857960D3}TF1ed9553b-00c4-4092-846a-c8f7f2908f3beecd942f_win32-8e33096c3cfc</Template>
  <TotalTime>1850</TotalTime>
  <Words>3201</Words>
  <Application>Microsoft Office PowerPoint</Application>
  <PresentationFormat>Widescreen</PresentationFormat>
  <Paragraphs>295</Paragraphs>
  <Slides>20</Slides>
  <Notes>20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Calibri</vt:lpstr>
      <vt:lpstr>Courier New</vt:lpstr>
      <vt:lpstr>Gill Sans Nova Light</vt:lpstr>
      <vt:lpstr>Gill Sans Nova Light (Body)</vt:lpstr>
      <vt:lpstr>Sagona Book</vt:lpstr>
      <vt:lpstr>Custom</vt:lpstr>
      <vt:lpstr>                                                               SLA Assignment</vt:lpstr>
      <vt:lpstr>SLA Assignment</vt:lpstr>
      <vt:lpstr>SLA Assignment</vt:lpstr>
      <vt:lpstr>SLA Assignment</vt:lpstr>
      <vt:lpstr>SLA Assignment</vt:lpstr>
      <vt:lpstr>SLA Assignment</vt:lpstr>
      <vt:lpstr>SLA Assignment</vt:lpstr>
      <vt:lpstr>SLA Assignment</vt:lpstr>
      <vt:lpstr>SLA Assignment</vt:lpstr>
      <vt:lpstr>SLA Assignment</vt:lpstr>
      <vt:lpstr>SLA Assignment</vt:lpstr>
      <vt:lpstr>SLA Assignment</vt:lpstr>
      <vt:lpstr>SLA Assignment</vt:lpstr>
      <vt:lpstr>SLA Assignment</vt:lpstr>
      <vt:lpstr>SLA Assignment</vt:lpstr>
      <vt:lpstr>SLA Assignment</vt:lpstr>
      <vt:lpstr>SLA Assignment</vt:lpstr>
      <vt:lpstr>SLA Assignment</vt:lpstr>
      <vt:lpstr>SLA Assignment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Subramaniyan, Manivel</dc:creator>
  <cp:lastModifiedBy>Subramaniyan, Manivel</cp:lastModifiedBy>
  <cp:revision>18</cp:revision>
  <dcterms:created xsi:type="dcterms:W3CDTF">2025-09-28T13:15:40Z</dcterms:created>
  <dcterms:modified xsi:type="dcterms:W3CDTF">2025-10-29T01:32:06Z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